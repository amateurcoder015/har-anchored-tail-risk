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FZ0 loss above best, x1000</c:v>
                </c:pt>
              </c:strCache>
            </c:strRef>
          </c:tx>
          <c:spPr>
            <a:solidFill>
              <a:srgbClr val="B6F36B"/>
            </a:solidFill>
          </c:spPr>
          <c:cat>
            <c:strRef>
              <c:f>Sheet1!$A$2:$A$10</c:f>
              <c:strCache>
                <c:ptCount val="9"/>
                <c:pt idx="0">
                  <c:v>R2-MLP (best)</c:v>
                </c:pt>
                <c:pt idx="1">
                  <c:v>R2-linear</c:v>
                </c:pt>
                <c:pt idx="2">
                  <c:v>HAR</c:v>
                </c:pt>
                <c:pt idx="3">
                  <c:v>Taylor min. score</c:v>
                </c:pt>
                <c:pt idx="4">
                  <c:v>Taylor rel. score</c:v>
                </c:pt>
                <c:pt idx="5">
                  <c:v>Equal weights</c:v>
                </c:pt>
                <c:pt idx="6">
                  <c:v>Gate, level control</c:v>
                </c:pt>
                <c:pt idx="7">
                  <c:v>R1 (HAR-X)</c:v>
                </c:pt>
                <c:pt idx="8">
                  <c:v>Gate, no level control</c:v>
                </c:pt>
              </c:strCache>
            </c:strRef>
          </c:cat>
          <c:val>
            <c:numRef>
              <c:f>Sheet1!$B$2:$B$10</c:f>
              <c:numCache>
                <c:formatCode>0.0</c:formatCode>
                <c:ptCount val="9"/>
                <c:pt idx="0">
                  <c:v>0.0</c:v>
                </c:pt>
                <c:pt idx="1">
                  <c:v>2.1</c:v>
                </c:pt>
                <c:pt idx="2">
                  <c:v>3.6</c:v>
                </c:pt>
                <c:pt idx="3">
                  <c:v>4.5</c:v>
                </c:pt>
                <c:pt idx="4">
                  <c:v>5.7</c:v>
                </c:pt>
                <c:pt idx="5">
                  <c:v>9.3</c:v>
                </c:pt>
                <c:pt idx="6">
                  <c:v>10.2</c:v>
                </c:pt>
                <c:pt idx="7">
                  <c:v>36.5</c:v>
                </c:pt>
                <c:pt idx="8">
                  <c:v>38.4</c:v>
                </c:pt>
              </c:numCache>
            </c:numRef>
          </c:val>
        </c:ser>
        <c:dLbls>
          <c:txPr>
            <a:bodyPr/>
            <a:lstStyle/>
            <a:p>
              <a:pPr>
                <a:defRPr sz="1200" b="1">
                  <a:solidFill>
                    <a:srgbClr val="ECF8EF"/>
                  </a:solidFill>
                </a:defRPr>
              </a:pPr>
            </a:p>
          </c:txPr>
          <c:dLblPos val="outEnd"/>
          <c:showLegendKey val="0"/>
          <c:showVal val="1"/>
          <c:showCatName val="0"/>
          <c:showSerName val="0"/>
          <c:showPercent val="0"/>
          <c:showBubbleSize val="0"/>
          <c:showLeaderLines val="1"/>
        </c:dLbls>
        <c:gapWidth val="70"/>
        <c:overlap val="-10"/>
        <c:axId val="-2068027336"/>
        <c:axId val="-2113994440"/>
      </c:barChart>
      <c:catAx>
        <c:axId val="-2068027336"/>
        <c:scaling>
          <c:orientation val="minMax"/>
        </c:scaling>
        <c:delete val="0"/>
        <c:axPos val="l"/>
        <c:majorTickMark val="out"/>
        <c:minorTickMark val="none"/>
        <c:tickLblPos val="nextTo"/>
        <c:spPr>
          <a:ln>
            <a:solidFill>
              <a:srgbClr val="9CC5B0"/>
            </a:solidFill>
          </a:ln>
        </c:spPr>
        <c:txPr>
          <a:bodyPr/>
          <a:lstStyle/>
          <a:p>
            <a:pPr>
              <a:defRPr sz="1200">
                <a:solidFill>
                  <a:srgbClr val="ECF8EF"/>
                </a:solidFill>
              </a:defRPr>
            </a:pPr>
          </a:p>
        </c:txPr>
        <c:crossAx val="-2113994440"/>
        <c:crosses val="autoZero"/>
        <c:auto val="1"/>
        <c:lblAlgn val="ctr"/>
        <c:lblOffset val="100"/>
        <c:noMultiLvlLbl val="0"/>
      </c:catAx>
      <c:valAx>
        <c:axId val="-2113994440"/>
        <c:scaling/>
        <c:delete val="0"/>
        <c:axPos val="b"/>
        <c:majorGridlines>
          <c:spPr>
            <a:ln w="6350">
              <a:solidFill>
                <a:srgbClr val="9CC5B0"/>
              </a:solidFill>
            </a:ln>
          </c:spPr>
        </c:majorGridlines>
        <c:numFmt formatCode="General" sourceLinked="0"/>
        <c:majorTickMark val="out"/>
        <c:minorTickMark val="none"/>
        <c:tickLblPos val="nextTo"/>
        <c:spPr>
          <a:ln>
            <a:noFill/>
          </a:ln>
        </c:spPr>
        <c:txPr>
          <a:bodyPr/>
          <a:lstStyle/>
          <a:p>
            <a:pPr>
              <a:defRPr>
                <a:solidFill>
                  <a:srgbClr val="9CC5B0"/>
                </a:solidFill>
              </a:defRPr>
            </a:pPr>
          </a:p>
        </c:txPr>
        <c:crossAx val="-2068027336"/>
        <c:crosses val="autoZero"/>
      </c:valAx>
    </c:plotArea>
    <c:dispBlanksAs val="gap"/>
  </c:chart>
  <c:txPr>
    <a:bodyPr/>
    <a:lstStyle/>
    <a:p>
      <a:pPr>
        <a:defRPr sz="1200">
          <a:solidFill>
            <a:srgbClr val="9CC5B0"/>
          </a:solidFill>
          <a:latin typeface="Unbounded"/>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Exceptions cluster (DQ test)</c:v>
                </c:pt>
              </c:strCache>
            </c:strRef>
          </c:tx>
          <c:spPr>
            <a:solidFill>
              <a:srgbClr val="B6F36B"/>
            </a:solidFill>
          </c:spPr>
          <c:cat>
            <c:strRef>
              <c:f>Sheet1!$A$2:$A$6</c:f>
              <c:strCache>
                <c:ptCount val="5"/>
                <c:pt idx="0">
                  <c:v>HAR</c:v>
                </c:pt>
                <c:pt idx="1">
                  <c:v>Equal weights</c:v>
                </c:pt>
                <c:pt idx="2">
                  <c:v>Taylor min. score</c:v>
                </c:pt>
                <c:pt idx="3">
                  <c:v>Gate, level control</c:v>
                </c:pt>
                <c:pt idx="4">
                  <c:v>Gate, no level control</c:v>
                </c:pt>
              </c:strCache>
            </c:strRef>
          </c:cat>
          <c:val>
            <c:numRef>
              <c:f>Sheet1!$B$2:$B$6</c:f>
              <c:numCache>
                <c:formatCode>0</c:formatCode>
                <c:ptCount val="5"/>
                <c:pt idx="0">
                  <c:v>3</c:v>
                </c:pt>
                <c:pt idx="1">
                  <c:v>3</c:v>
                </c:pt>
                <c:pt idx="2">
                  <c:v>6</c:v>
                </c:pt>
                <c:pt idx="3">
                  <c:v>2</c:v>
                </c:pt>
                <c:pt idx="4">
                  <c:v>11</c:v>
                </c:pt>
              </c:numCache>
            </c:numRef>
          </c:val>
        </c:ser>
        <c:ser>
          <c:idx val="1"/>
          <c:order val="1"/>
          <c:tx>
            <c:strRef>
              <c:f>Sheet1!$C$1</c:f>
              <c:strCache>
                <c:ptCount val="1"/>
                <c:pt idx="0">
                  <c:v>ES too shallow (Z2 test)</c:v>
                </c:pt>
              </c:strCache>
            </c:strRef>
          </c:tx>
          <c:spPr>
            <a:solidFill>
              <a:srgbClr val="3FB98A"/>
            </a:solidFill>
          </c:spPr>
          <c:cat>
            <c:strRef>
              <c:f>Sheet1!$A$2:$A$6</c:f>
              <c:strCache>
                <c:ptCount val="5"/>
                <c:pt idx="0">
                  <c:v>HAR</c:v>
                </c:pt>
                <c:pt idx="1">
                  <c:v>Equal weights</c:v>
                </c:pt>
                <c:pt idx="2">
                  <c:v>Taylor min. score</c:v>
                </c:pt>
                <c:pt idx="3">
                  <c:v>Gate, level control</c:v>
                </c:pt>
                <c:pt idx="4">
                  <c:v>Gate, no level control</c:v>
                </c:pt>
              </c:strCache>
            </c:strRef>
          </c:cat>
          <c:val>
            <c:numRef>
              <c:f>Sheet1!$C$2:$C$6</c:f>
              <c:numCache>
                <c:formatCode>0</c:formatCode>
                <c:ptCount val="5"/>
                <c:pt idx="0">
                  <c:v>5</c:v>
                </c:pt>
                <c:pt idx="1">
                  <c:v>0</c:v>
                </c:pt>
                <c:pt idx="2">
                  <c:v>4</c:v>
                </c:pt>
                <c:pt idx="3">
                  <c:v>3</c:v>
                </c:pt>
                <c:pt idx="4">
                  <c:v>9</c:v>
                </c:pt>
              </c:numCache>
            </c:numRef>
          </c:val>
        </c:ser>
        <c:gapWidth val="70"/>
        <c:overlap val="-10"/>
        <c:axId val="-2068027336"/>
        <c:axId val="-2113994440"/>
      </c:barChart>
      <c:catAx>
        <c:axId val="-2068027336"/>
        <c:scaling>
          <c:orientation val="minMax"/>
        </c:scaling>
        <c:delete val="0"/>
        <c:axPos val="b"/>
        <c:majorTickMark val="out"/>
        <c:minorTickMark val="none"/>
        <c:tickLblPos val="nextTo"/>
        <c:spPr>
          <a:ln>
            <a:solidFill>
              <a:srgbClr val="9CC5B0"/>
            </a:solidFill>
          </a:ln>
        </c:spPr>
        <c:txPr>
          <a:bodyPr/>
          <a:lstStyle/>
          <a:p>
            <a:pPr>
              <a:defRPr sz="1200">
                <a:solidFill>
                  <a:srgbClr val="ECF8EF"/>
                </a:solidFill>
              </a:defRPr>
            </a:pPr>
          </a:p>
        </c:txPr>
        <c:crossAx val="-2113994440"/>
        <c:crosses val="autoZero"/>
        <c:auto val="1"/>
        <c:lblAlgn val="ctr"/>
        <c:lblOffset val="100"/>
        <c:noMultiLvlLbl val="0"/>
      </c:catAx>
      <c:valAx>
        <c:axId val="-2113994440"/>
        <c:scaling/>
        <c:delete val="0"/>
        <c:axPos val="l"/>
        <c:majorGridlines>
          <c:spPr>
            <a:ln w="6350">
              <a:solidFill>
                <a:srgbClr val="9CC5B0"/>
              </a:solidFill>
            </a:ln>
          </c:spPr>
        </c:majorGridlines>
        <c:numFmt formatCode="General" sourceLinked="0"/>
        <c:majorTickMark val="out"/>
        <c:minorTickMark val="none"/>
        <c:tickLblPos val="nextTo"/>
        <c:spPr>
          <a:ln>
            <a:noFill/>
          </a:ln>
        </c:spPr>
        <c:txPr>
          <a:bodyPr/>
          <a:lstStyle/>
          <a:p>
            <a:pPr>
              <a:defRPr>
                <a:solidFill>
                  <a:srgbClr val="9CC5B0"/>
                </a:solidFill>
              </a:defRPr>
            </a:pPr>
          </a:p>
        </c:txPr>
        <c:crossAx val="-2068027336"/>
        <c:crosses val="autoZero"/>
      </c:valAx>
    </c:plotArea>
    <c:legend>
      <c:legendPos val="b"/>
      <c:overlay val="0"/>
      <c:txPr>
        <a:bodyPr/>
        <a:lstStyle/>
        <a:p>
          <a:pPr>
            <a:defRPr>
              <a:solidFill>
                <a:srgbClr val="ECF8EF"/>
              </a:solidFill>
            </a:defRPr>
          </a:pPr>
        </a:p>
      </c:txPr>
    </c:legend>
    <c:dispBlanksAs val="gap"/>
  </c:chart>
  <c:txPr>
    <a:bodyPr/>
    <a:lstStyle/>
    <a:p>
      <a:pPr>
        <a:defRPr sz="1200">
          <a:solidFill>
            <a:srgbClr val="9CC5B0"/>
          </a:solidFill>
          <a:latin typeface="Unbounded"/>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talk assumes no finance background. We will build up every idea from scratch: what risk is, how it is measured, how computers forecast it, and what our study found. The short version: a clever machine-learning method for combining risk forecasts fails for one specific, measurable reason, and we proved it with a test we committed to in public before seeing the data.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Six parts. Parts 1 and 2 give you the vocabulary. Part 3 explains the models. Part 4 is the story of our three projects. Part 5 is the results, and part 6 is what it all means. Each item is clickable if you want to jump.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us start from zero: what do banks actually worry about every day?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Key idea: returns are daily percentage changes, volatility is how jumpy they are, and the tail is the rare bad days. Because wild days cluster, yesterday tells us something about tomorrow, which is why forecasting risk is possible at 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 answers: where does a bad day start? ES answers: how bad is a bad day on average? Regulators moved from VaR to ES because VaR says nothing about how deep the losses go once the line is crossed.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Over a year of about 250 trading days, roughly 6 days should cross a good VaR forecast. If many more cross it, the forecast is too optimistic; if far fewer, it is too cautious.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left to right. Tonight we take prices up to today, feed six risk models, combine their answers, and publish tomorrow's VaR and ES. Tomorrow the real return happens, and we score the forecast. The crucial rule: models only ever see data up to the evening before. Using tomorrow's information by accident is called look-ahead bias, and our code tests for it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forecast is only useful if we can score it fairly. This part explains the scoring and the statistics.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FZ0 is the key yardstick. Because VaR and ES are judged together by one strictly consistent score, a method cannot game it. Backtests are the regulator's view: Kupiec counts crossings, Christoffersen and the DQ test check clustering, and the Acerbi-Szekely Z2 test checks whether ES was deep enough.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tools that make the results trustworthy. Pre-registration is the most important for credibility: it is common in medicine but rare in finance forecasting.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the actual methods we compare.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HAR is the star of the story. It uses the high and low of each day, not just the close, which carries more information. In every set of stocks we tested it was the strongest single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Combining is like asking several experts and blending their answers. Simple rules are robust. The learned gate is the 'smart' idea that our first project was built on: let a network decide, day by day, whom to trust and how much risk to report.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gate takes the six forecasts and a description of today's market, then outputs weights and a scale factor g. If g equals 1, the final forecast is just a weighted mix. If g is 0.9, the gate shrinks reported risk by 10 percent. Keep an eye on g: it is the villain of this story.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how the research evolved.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Project 1 had a neural blend that lost to plain EWMA, with validation checks that only printed PASS. Project 2 rebuilt it properly, with VaR and ES, a proper score and real tests, and found the gate still lost because its scale factor fell to 0.82. Project 3 asks why, and tests the answer properly.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idea survived; almost everything about how it is tested changed. The final project also changed the question, from 'does the gate win?' to 'why does it lose?'.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Level drift is a specific version of a known problem in forecasting: models that learn a fixed adjustment from the past break when the world shifts. Our prediction: a gate with level control should beat the same gate without it, and the uncontrolled gate should lose to HAR.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design is what makes the result credible. We designed everything on 20 stocks we had already seen. Then we wrote down four hypotheses and the test rules, published them, and only then downloaded 27 stocks we had never touched, three per sector: banks like HDFC Bank, IT like TCS, pharma like Cipla, power like NTPC, and so on. We ran it once.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all from the single pre-registered run.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of four confirmed, and they are exactly the two about level drift. The two claiming HAR beats simple blends were ties: the simple methods are statistically indistinguishable. Adjusted p means after the Holm correction for testing four things.</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Shorter bars are better. The top seven methods are within about 10 thousandths of each other, which is why they tie statistically. The uncontrolled gate and R1 are clearly worse: about four times further from the best.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uncontrolled gate's hit rate looks almost fine, 2.9% versus the target 2.5%. But its bad days come in clusters for 11 stocks, and its ES underestimates real losses for 9. Counting hits alone would have missed the problem.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level drift made visible. The uncontrolled gate consistently reports 4 to 10 percent less risk than its own models suggest, in calm and volatile months alike. That is not a reaction to the market; it is a habit learned from the training years.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Across stocks and years, the more the gate shrank its forecasts, the more it lost to HAR. Level control beat no level control on 25 of 27 stocks. A power analysis also showed H3 and H4 would show up with just 8 to 9 stocks, while the ties in H1 and H2 would never separate however many stocks we added.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what we can and cannot say.</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Being clear about limits is part of the contribution. To our knowledge this is the first pre-registered study of combining VaR and ES forecasts, and the level-drift finding is confirmed on stocks we never touched during design.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practical lesson for anyone building such models: a learned combination should not be allowed to rescale overall risk freely. Thank you. Everything, including the pre-registration and every result table, is public in the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slide" Target="slide3.xml"/><Relationship Id="rId4" Type="http://schemas.openxmlformats.org/officeDocument/2006/relationships/slide" Target="slide8.xml"/><Relationship Id="rId5" Type="http://schemas.openxmlformats.org/officeDocument/2006/relationships/slide" Target="slide11.xml"/><Relationship Id="rId6" Type="http://schemas.openxmlformats.org/officeDocument/2006/relationships/slide" Target="slide15.xml"/><Relationship Id="rId7" Type="http://schemas.openxmlformats.org/officeDocument/2006/relationships/slide" Target="slide20.xml"/><Relationship Id="rId8" Type="http://schemas.openxmlformats.org/officeDocument/2006/relationships/slide" Target="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slide" Target="slide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slide" Target="slide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slide" Target="slid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slide" Target="slide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slide" Target="slide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3675888" y="84125"/>
            <a:ext cx="12582144" cy="4403750"/>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3913632" y="4418381"/>
            <a:ext cx="8193024" cy="2867558"/>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a:off x="7680960" y="640080"/>
            <a:ext cx="4937760" cy="49377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0277856" y="5212080"/>
            <a:ext cx="1207008" cy="54864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4617720"/>
            <a:ext cx="13716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435418" cy="64008"/>
          </a:xfrm>
          <a:prstGeom prst="rect">
            <a:avLst/>
          </a:prstGeom>
          <a:solidFill>
            <a:srgbClr val="3FB98A">
              <a:alpha val="85000"/>
            </a:srgbClr>
          </a:solidFill>
          <a:ln>
            <a:noFill/>
          </a:ln>
        </p:spPr>
        <p:txBody>
          <a:bodyPr rtlCol="0" anchor="ctr"/>
          <a:lstStyle/>
          <a:p>
            <a:pPr algn="ctr"/>
          </a:p>
        </p:txBody>
      </p:sp>
      <p:sp>
        <p:nvSpPr>
          <p:cNvPr id="9" name="kicker"/>
          <p:cNvSpPr txBox="1"/>
          <p:nvPr/>
        </p:nvSpPr>
        <p:spPr>
          <a:xfrm>
            <a:off x="822960" y="1417320"/>
            <a:ext cx="7315200" cy="365760"/>
          </a:xfrm>
          <a:prstGeom prst="rect">
            <a:avLst/>
          </a:prstGeom>
          <a:noFill/>
        </p:spPr>
        <p:txBody>
          <a:bodyPr wrap="square" anchor="t" lIns="0" rIns="0" tIns="0" bIns="0">
            <a:noAutofit/>
          </a:bodyPr>
          <a:lstStyle/>
          <a:p>
            <a:pPr algn="l">
              <a:lnSpc>
                <a:spcPct val="100000"/>
              </a:lnSpc>
            </a:pPr>
            <a:r>
              <a:rPr sz="1200" b="1" spc="400">
                <a:solidFill>
                  <a:srgbClr val="B6F36B"/>
                </a:solidFill>
                <a:latin typeface="Unbounded"/>
              </a:rPr>
              <a:t>A RESEARCH STUDY ON INDIAN STOCKS</a:t>
            </a:r>
          </a:p>
        </p:txBody>
      </p:sp>
      <p:sp>
        <p:nvSpPr>
          <p:cNvPr id="10" name="title"/>
          <p:cNvSpPr txBox="1"/>
          <p:nvPr/>
        </p:nvSpPr>
        <p:spPr>
          <a:xfrm>
            <a:off x="822960" y="1783080"/>
            <a:ext cx="7589520" cy="2697480"/>
          </a:xfrm>
          <a:prstGeom prst="rect">
            <a:avLst/>
          </a:prstGeom>
          <a:noFill/>
        </p:spPr>
        <p:txBody>
          <a:bodyPr wrap="square" anchor="b" lIns="0" rIns="0" tIns="0" bIns="0">
            <a:noAutofit/>
          </a:bodyPr>
          <a:lstStyle/>
          <a:p>
            <a:pPr algn="l">
              <a:lnSpc>
                <a:spcPct val="102000"/>
              </a:lnSpc>
            </a:pPr>
            <a:r>
              <a:rPr sz="5400" b="1">
                <a:solidFill>
                  <a:srgbClr val="ECF8EF"/>
                </a:solidFill>
                <a:latin typeface="Unbounded"/>
              </a:rPr>
              <a:t>Why smart risk forecasts fail</a:t>
            </a:r>
          </a:p>
        </p:txBody>
      </p:sp>
      <p:sp>
        <p:nvSpPr>
          <p:cNvPr id="11" name="subtitle"/>
          <p:cNvSpPr txBox="1"/>
          <p:nvPr/>
        </p:nvSpPr>
        <p:spPr>
          <a:xfrm>
            <a:off x="822960" y="4937760"/>
            <a:ext cx="6949440" cy="1188720"/>
          </a:xfrm>
          <a:prstGeom prst="rect">
            <a:avLst/>
          </a:prstGeom>
          <a:noFill/>
        </p:spPr>
        <p:txBody>
          <a:bodyPr wrap="square" anchor="t" lIns="0" rIns="0" tIns="0" bIns="0">
            <a:noAutofit/>
          </a:bodyPr>
          <a:lstStyle/>
          <a:p>
            <a:pPr algn="l">
              <a:lnSpc>
                <a:spcPct val="125000"/>
              </a:lnSpc>
            </a:pPr>
            <a:r>
              <a:rPr sz="2000" b="0">
                <a:solidFill>
                  <a:srgbClr val="9CC5B0"/>
                </a:solidFill>
                <a:latin typeface="Unbounded"/>
              </a:rPr>
              <a:t>Pre-registered evidence of level drift when learned models combine Value-at-Risk and Expected Shortfall forecasts</a:t>
            </a:r>
          </a:p>
        </p:txBody>
      </p:sp>
      <p:sp>
        <p:nvSpPr>
          <p:cNvPr id="12" name="byline"/>
          <p:cNvSpPr txBox="1"/>
          <p:nvPr/>
        </p:nvSpPr>
        <p:spPr>
          <a:xfrm>
            <a:off x="822960" y="6172200"/>
            <a:ext cx="6949440" cy="365760"/>
          </a:xfrm>
          <a:prstGeom prst="rect">
            <a:avLst/>
          </a:prstGeom>
          <a:noFill/>
        </p:spPr>
        <p:txBody>
          <a:bodyPr wrap="square" anchor="t" lIns="0" rIns="0" tIns="0" bIns="0">
            <a:noAutofit/>
          </a:bodyPr>
          <a:lstStyle/>
          <a:p>
            <a:pPr algn="l">
              <a:lnSpc>
                <a:spcPct val="100000"/>
              </a:lnSpc>
            </a:pPr>
            <a:r>
              <a:rPr sz="1100" b="0">
                <a:solidFill>
                  <a:srgbClr val="9CC5B0"/>
                </a:solidFill>
                <a:latin typeface="Unbounded"/>
              </a:rPr>
              <a:t>From first project to final paper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750"/>
                                        <p:tgtEl>
                                          <p:spTgt spid="9"/>
                                        </p:tgtEl>
                                      </p:cBhvr>
                                    </p:animEffect>
                                  </p:childTnLst>
                                </p:cTn>
                              </p:par>
                              <p:par>
                                <p:cTn id="8" presetID="42" presetClass="entr" presetSubtype="0" fill="hold" grpId="0" nodeType="withEffect">
                                  <p:stCondLst>
                                    <p:cond delay="202"/>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562"/>
                                        <p:tgtEl>
                                          <p:spTgt spid="10"/>
                                        </p:tgtEl>
                                      </p:cBhvr>
                                    </p:animEffect>
                                    <p:anim calcmode="lin" valueType="num">
                                      <p:cBhvr additive="base">
                                        <p:cTn id="11" dur="562" decel="100000" fill="hold"/>
                                        <p:tgtEl>
                                          <p:spTgt spid="10"/>
                                        </p:tgtEl>
                                        <p:attrNameLst>
                                          <p:attrName>ppt_y</p:attrName>
                                        </p:attrNameLst>
                                      </p:cBhvr>
                                      <p:tavLst>
                                        <p:tav tm="0">
                                          <p:val>
                                            <p:strVal val="#ppt_y+0.035"/>
                                          </p:val>
                                        </p:tav>
                                        <p:tav tm="100000">
                                          <p:val>
                                            <p:strVal val="#ppt_y"/>
                                          </p:val>
                                        </p:tav>
                                      </p:tavLst>
                                    </p:anim>
                                  </p:childTnLst>
                                </p:cTn>
                              </p:par>
                              <p:par>
                                <p:cTn id="12" presetID="42" presetClass="entr" presetSubtype="0" fill="hold" grpId="0" nodeType="withEffect">
                                  <p:stCondLst>
                                    <p:cond delay="1215"/>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875"/>
                                        <p:tgtEl>
                                          <p:spTgt spid="11"/>
                                        </p:tgtEl>
                                      </p:cBhvr>
                                    </p:animEffect>
                                    <p:anim calcmode="lin" valueType="num">
                                      <p:cBhvr additive="base">
                                        <p:cTn id="15" dur="875" decel="100000" fill="hold"/>
                                        <p:tgtEl>
                                          <p:spTgt spid="11"/>
                                        </p:tgtEl>
                                        <p:attrNameLst>
                                          <p:attrName>ppt_y</p:attrName>
                                        </p:attrNameLst>
                                      </p:cBhvr>
                                      <p:tavLst>
                                        <p:tav tm="0">
                                          <p:val>
                                            <p:strVal val="#ppt_y+0.035"/>
                                          </p:val>
                                        </p:tav>
                                        <p:tav tm="100000">
                                          <p:val>
                                            <p:strVal val="#ppt_y"/>
                                          </p:val>
                                        </p:tav>
                                      </p:tavLst>
                                    </p:anim>
                                  </p:childTnLst>
                                </p:cTn>
                              </p:par>
                              <p:par>
                                <p:cTn id="16" presetID="10" presetClass="entr" presetSubtype="0" fill="hold" grpId="0" nodeType="withEffect">
                                  <p:stCondLst>
                                    <p:cond delay="1755"/>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750"/>
                                        <p:tgtEl>
                                          <p:spTgt spid="12"/>
                                        </p:tgtEl>
                                      </p:cBhvr>
                                    </p:animEffect>
                                  </p:childTnLst>
                                </p:cTn>
                              </p:par>
                              <p:par>
                                <p:cTn id="19" presetID="42" presetClass="path" presetSubtype="0" accel="50000" decel="50000" repeatCount="indefinite" autoRev="1" fill="hold" grpId="0" nodeType="withEffect">
                                  <p:stCondLst>
                                    <p:cond delay="200"/>
                                  </p:stCondLst>
                                  <p:childTnLst>
                                    <p:animMotion origin="layout" path="M 0 0 L 0 -0.012 E" pathEditMode="relative" ptsTypes="">
                                      <p:cBhvr>
                                        <p:cTn id="20" dur="2600" fill="hold"/>
                                        <p:tgtEl>
                                          <p:spTgt spid="5"/>
                                        </p:tgtEl>
                                        <p:attrNameLst>
                                          <p:attrName>ppt_x</p:attrName>
                                          <p:attrName>ppt_y</p:attrName>
                                        </p:attrNameLst>
                                      </p:cBhvr>
                                    </p:animMotion>
                                  </p:childTnLst>
                                </p:cTn>
                              </p:par>
                              <p:par>
                                <p:cTn id="21" presetID="8" presetClass="emph" presetSubtype="0" accel="50000" decel="50000" repeatCount="indefinite" autoRev="1" fill="hold" grpId="0" nodeType="withEffect">
                                  <p:stCondLst>
                                    <p:cond delay="0"/>
                                  </p:stCondLst>
                                  <p:childTnLst>
                                    <p:animRot by="300000">
                                      <p:cBhvr>
                                        <p:cTn id="22"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4937760" y="3895344"/>
            <a:ext cx="11704320" cy="4096512"/>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7772400" y="-173736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5349240" y="822960"/>
            <a:ext cx="36576" cy="5212080"/>
          </a:xfrm>
          <a:prstGeom prst="rect">
            <a:avLst/>
          </a:prstGeom>
          <a:solidFill>
            <a:srgbClr val="B6F36B">
              <a:alpha val="90000"/>
            </a:srgbClr>
          </a:solidFill>
          <a:ln>
            <a:noFill/>
          </a:ln>
        </p:spPr>
        <p:txBody>
          <a:bodyPr rtlCol="0" anchor="ctr"/>
          <a:lstStyle/>
          <a:p>
            <a:pPr algn="ctr"/>
          </a:p>
        </p:txBody>
      </p:sp>
      <p:sp>
        <p:nvSpPr>
          <p:cNvPr id="4" name="!!ring"/>
          <p:cNvSpPr/>
          <p:nvPr/>
        </p:nvSpPr>
        <p:spPr>
          <a:xfrm rot="2100000">
            <a:off x="-1280160" y="3291840"/>
            <a:ext cx="4206240" cy="420624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462272" y="868680"/>
            <a:ext cx="905256" cy="41148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30632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870835"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914400"/>
            <a:ext cx="4206240" cy="2011680"/>
          </a:xfrm>
          <a:prstGeom prst="rect">
            <a:avLst/>
          </a:prstGeom>
          <a:noFill/>
        </p:spPr>
        <p:txBody>
          <a:bodyPr wrap="square" anchor="b" lIns="0" rIns="0" tIns="0" bIns="0">
            <a:noAutofit/>
          </a:bodyPr>
          <a:lstStyle/>
          <a:p>
            <a:pPr algn="l">
              <a:lnSpc>
                <a:spcPct val="102000"/>
              </a:lnSpc>
            </a:pPr>
            <a:r>
              <a:rPr sz="4400" b="1">
                <a:solidFill>
                  <a:srgbClr val="ECF8EF"/>
                </a:solidFill>
                <a:latin typeface="Unbounded"/>
              </a:rPr>
              <a:t>What we will cover</a:t>
            </a:r>
          </a:p>
        </p:txBody>
      </p:sp>
      <p:sp>
        <p:nvSpPr>
          <p:cNvPr id="10" name="num0">
            <a:hlinkClick action="ppaction://hlinksldjump" r:id="rId3"/>
          </p:cNvPr>
          <p:cNvSpPr txBox="1"/>
          <p:nvPr/>
        </p:nvSpPr>
        <p:spPr>
          <a:xfrm>
            <a:off x="5852160" y="868680"/>
            <a:ext cx="822960" cy="853440"/>
          </a:xfrm>
          <a:prstGeom prst="rect">
            <a:avLst/>
          </a:prstGeom>
          <a:noFill/>
        </p:spPr>
        <p:txBody>
          <a:bodyPr wrap="square" anchor="ctr" lIns="0" rIns="0" tIns="0" bIns="0">
            <a:noAutofit/>
          </a:bodyPr>
          <a:lstStyle/>
          <a:p>
            <a:pPr algn="l">
              <a:lnSpc>
                <a:spcPct val="100000"/>
              </a:lnSpc>
            </a:pPr>
            <a:r>
              <a:rPr sz="1800" b="1">
                <a:solidFill>
                  <a:srgbClr val="B6F36B"/>
                </a:solidFill>
                <a:latin typeface="Unbounded"/>
              </a:rPr>
              <a:t>01</a:t>
            </a:r>
          </a:p>
        </p:txBody>
      </p:sp>
      <p:sp>
        <p:nvSpPr>
          <p:cNvPr id="11" name="item0">
            <a:hlinkClick action="ppaction://hlinksldjump" r:id="rId3"/>
          </p:cNvPr>
          <p:cNvSpPr txBox="1"/>
          <p:nvPr/>
        </p:nvSpPr>
        <p:spPr>
          <a:xfrm>
            <a:off x="6720840" y="86868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The basic problem</a:t>
            </a:r>
            <a:r>
              <a:rPr sz="2400">
                <a:solidFill>
                  <a:srgbClr val="3FB98A"/>
                </a:solidFill>
                <a:latin typeface="Unbounded"/>
              </a:rPr>
              <a:t>  →</a:t>
            </a:r>
          </a:p>
        </p:txBody>
      </p:sp>
      <p:sp>
        <p:nvSpPr>
          <p:cNvPr id="12" name="num1">
            <a:hlinkClick action="ppaction://hlinksldjump" r:id="rId4"/>
          </p:cNvPr>
          <p:cNvSpPr txBox="1"/>
          <p:nvPr/>
        </p:nvSpPr>
        <p:spPr>
          <a:xfrm>
            <a:off x="5852160" y="1722120"/>
            <a:ext cx="822960" cy="853440"/>
          </a:xfrm>
          <a:prstGeom prst="rect">
            <a:avLst/>
          </a:prstGeom>
          <a:noFill/>
        </p:spPr>
        <p:txBody>
          <a:bodyPr wrap="square" anchor="ctr" lIns="0" rIns="0" tIns="0" bIns="0">
            <a:noAutofit/>
          </a:bodyPr>
          <a:lstStyle/>
          <a:p>
            <a:pPr algn="l">
              <a:lnSpc>
                <a:spcPct val="100000"/>
              </a:lnSpc>
            </a:pPr>
            <a:r>
              <a:rPr sz="1800" b="1">
                <a:solidFill>
                  <a:srgbClr val="3FB98A"/>
                </a:solidFill>
                <a:latin typeface="Unbounded"/>
              </a:rPr>
              <a:t>02</a:t>
            </a:r>
          </a:p>
        </p:txBody>
      </p:sp>
      <p:sp>
        <p:nvSpPr>
          <p:cNvPr id="13" name="item1">
            <a:hlinkClick action="ppaction://hlinksldjump" r:id="rId4"/>
          </p:cNvPr>
          <p:cNvSpPr txBox="1"/>
          <p:nvPr/>
        </p:nvSpPr>
        <p:spPr>
          <a:xfrm>
            <a:off x="6720840" y="172212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Grading a forecast</a:t>
            </a:r>
            <a:r>
              <a:rPr sz="2400">
                <a:solidFill>
                  <a:srgbClr val="3FB98A"/>
                </a:solidFill>
                <a:latin typeface="Unbounded"/>
              </a:rPr>
              <a:t>  →</a:t>
            </a:r>
          </a:p>
        </p:txBody>
      </p:sp>
      <p:sp>
        <p:nvSpPr>
          <p:cNvPr id="14" name="num2">
            <a:hlinkClick action="ppaction://hlinksldjump" r:id="rId5"/>
          </p:cNvPr>
          <p:cNvSpPr txBox="1"/>
          <p:nvPr/>
        </p:nvSpPr>
        <p:spPr>
          <a:xfrm>
            <a:off x="5852160" y="2575560"/>
            <a:ext cx="822960" cy="853440"/>
          </a:xfrm>
          <a:prstGeom prst="rect">
            <a:avLst/>
          </a:prstGeom>
          <a:noFill/>
        </p:spPr>
        <p:txBody>
          <a:bodyPr wrap="square" anchor="ctr" lIns="0" rIns="0" tIns="0" bIns="0">
            <a:noAutofit/>
          </a:bodyPr>
          <a:lstStyle/>
          <a:p>
            <a:pPr algn="l">
              <a:lnSpc>
                <a:spcPct val="100000"/>
              </a:lnSpc>
            </a:pPr>
            <a:r>
              <a:rPr sz="1800" b="1">
                <a:solidFill>
                  <a:srgbClr val="B6F36B"/>
                </a:solidFill>
                <a:latin typeface="Unbounded"/>
              </a:rPr>
              <a:t>03</a:t>
            </a:r>
          </a:p>
        </p:txBody>
      </p:sp>
      <p:sp>
        <p:nvSpPr>
          <p:cNvPr id="15" name="item2">
            <a:hlinkClick action="ppaction://hlinksldjump" r:id="rId5"/>
          </p:cNvPr>
          <p:cNvSpPr txBox="1"/>
          <p:nvPr/>
        </p:nvSpPr>
        <p:spPr>
          <a:xfrm>
            <a:off x="6720840" y="257556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The forecasting models</a:t>
            </a:r>
            <a:r>
              <a:rPr sz="2400">
                <a:solidFill>
                  <a:srgbClr val="3FB98A"/>
                </a:solidFill>
                <a:latin typeface="Unbounded"/>
              </a:rPr>
              <a:t>  →</a:t>
            </a:r>
          </a:p>
        </p:txBody>
      </p:sp>
      <p:sp>
        <p:nvSpPr>
          <p:cNvPr id="16" name="num3">
            <a:hlinkClick action="ppaction://hlinksldjump" r:id="rId6"/>
          </p:cNvPr>
          <p:cNvSpPr txBox="1"/>
          <p:nvPr/>
        </p:nvSpPr>
        <p:spPr>
          <a:xfrm>
            <a:off x="5852160" y="3429000"/>
            <a:ext cx="822960" cy="853440"/>
          </a:xfrm>
          <a:prstGeom prst="rect">
            <a:avLst/>
          </a:prstGeom>
          <a:noFill/>
        </p:spPr>
        <p:txBody>
          <a:bodyPr wrap="square" anchor="ctr" lIns="0" rIns="0" tIns="0" bIns="0">
            <a:noAutofit/>
          </a:bodyPr>
          <a:lstStyle/>
          <a:p>
            <a:pPr algn="l">
              <a:lnSpc>
                <a:spcPct val="100000"/>
              </a:lnSpc>
            </a:pPr>
            <a:r>
              <a:rPr sz="1800" b="1">
                <a:solidFill>
                  <a:srgbClr val="3FB98A"/>
                </a:solidFill>
                <a:latin typeface="Unbounded"/>
              </a:rPr>
              <a:t>04</a:t>
            </a:r>
          </a:p>
        </p:txBody>
      </p:sp>
      <p:sp>
        <p:nvSpPr>
          <p:cNvPr id="17" name="item3">
            <a:hlinkClick action="ppaction://hlinksldjump" r:id="rId6"/>
          </p:cNvPr>
          <p:cNvSpPr txBox="1"/>
          <p:nvPr/>
        </p:nvSpPr>
        <p:spPr>
          <a:xfrm>
            <a:off x="6720840" y="342900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Our three projects</a:t>
            </a:r>
            <a:r>
              <a:rPr sz="2400">
                <a:solidFill>
                  <a:srgbClr val="3FB98A"/>
                </a:solidFill>
                <a:latin typeface="Unbounded"/>
              </a:rPr>
              <a:t>  →</a:t>
            </a:r>
          </a:p>
        </p:txBody>
      </p:sp>
      <p:sp>
        <p:nvSpPr>
          <p:cNvPr id="18" name="num4">
            <a:hlinkClick action="ppaction://hlinksldjump" r:id="rId7"/>
          </p:cNvPr>
          <p:cNvSpPr txBox="1"/>
          <p:nvPr/>
        </p:nvSpPr>
        <p:spPr>
          <a:xfrm>
            <a:off x="5852160" y="4282440"/>
            <a:ext cx="822960" cy="853440"/>
          </a:xfrm>
          <a:prstGeom prst="rect">
            <a:avLst/>
          </a:prstGeom>
          <a:noFill/>
        </p:spPr>
        <p:txBody>
          <a:bodyPr wrap="square" anchor="ctr" lIns="0" rIns="0" tIns="0" bIns="0">
            <a:noAutofit/>
          </a:bodyPr>
          <a:lstStyle/>
          <a:p>
            <a:pPr algn="l">
              <a:lnSpc>
                <a:spcPct val="100000"/>
              </a:lnSpc>
            </a:pPr>
            <a:r>
              <a:rPr sz="1800" b="1">
                <a:solidFill>
                  <a:srgbClr val="B6F36B"/>
                </a:solidFill>
                <a:latin typeface="Unbounded"/>
              </a:rPr>
              <a:t>05</a:t>
            </a:r>
          </a:p>
        </p:txBody>
      </p:sp>
      <p:sp>
        <p:nvSpPr>
          <p:cNvPr id="19" name="item4">
            <a:hlinkClick action="ppaction://hlinksldjump" r:id="rId7"/>
          </p:cNvPr>
          <p:cNvSpPr txBox="1"/>
          <p:nvPr/>
        </p:nvSpPr>
        <p:spPr>
          <a:xfrm>
            <a:off x="6720840" y="428244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What we found</a:t>
            </a:r>
            <a:r>
              <a:rPr sz="2400">
                <a:solidFill>
                  <a:srgbClr val="3FB98A"/>
                </a:solidFill>
                <a:latin typeface="Unbounded"/>
              </a:rPr>
              <a:t>  →</a:t>
            </a:r>
          </a:p>
        </p:txBody>
      </p:sp>
      <p:sp>
        <p:nvSpPr>
          <p:cNvPr id="20" name="num5">
            <a:hlinkClick action="ppaction://hlinksldjump" r:id="rId8"/>
          </p:cNvPr>
          <p:cNvSpPr txBox="1"/>
          <p:nvPr/>
        </p:nvSpPr>
        <p:spPr>
          <a:xfrm>
            <a:off x="5852160" y="5135880"/>
            <a:ext cx="822960" cy="853440"/>
          </a:xfrm>
          <a:prstGeom prst="rect">
            <a:avLst/>
          </a:prstGeom>
          <a:noFill/>
        </p:spPr>
        <p:txBody>
          <a:bodyPr wrap="square" anchor="ctr" lIns="0" rIns="0" tIns="0" bIns="0">
            <a:noAutofit/>
          </a:bodyPr>
          <a:lstStyle/>
          <a:p>
            <a:pPr algn="l">
              <a:lnSpc>
                <a:spcPct val="100000"/>
              </a:lnSpc>
            </a:pPr>
            <a:r>
              <a:rPr sz="1800" b="1">
                <a:solidFill>
                  <a:srgbClr val="3FB98A"/>
                </a:solidFill>
                <a:latin typeface="Unbounded"/>
              </a:rPr>
              <a:t>06</a:t>
            </a:r>
          </a:p>
        </p:txBody>
      </p:sp>
      <p:sp>
        <p:nvSpPr>
          <p:cNvPr id="21" name="item5">
            <a:hlinkClick action="ppaction://hlinksldjump" r:id="rId8"/>
          </p:cNvPr>
          <p:cNvSpPr txBox="1"/>
          <p:nvPr/>
        </p:nvSpPr>
        <p:spPr>
          <a:xfrm>
            <a:off x="6720840" y="5135880"/>
            <a:ext cx="4754880" cy="853440"/>
          </a:xfrm>
          <a:prstGeom prst="rect">
            <a:avLst/>
          </a:prstGeom>
          <a:noFill/>
        </p:spPr>
        <p:txBody>
          <a:bodyPr wrap="square" anchor="ctr" lIns="0" rIns="0" tIns="0" bIns="0">
            <a:noAutofit/>
          </a:bodyPr>
          <a:lstStyle/>
          <a:p>
            <a:pPr algn="l">
              <a:lnSpc>
                <a:spcPct val="100000"/>
              </a:lnSpc>
            </a:pPr>
            <a:r>
              <a:rPr sz="2400" b="1">
                <a:solidFill>
                  <a:srgbClr val="ECF8EF"/>
                </a:solidFill>
                <a:latin typeface="Unbounded"/>
              </a:rPr>
              <a:t>What it means</a:t>
            </a:r>
            <a:r>
              <a:rPr sz="2400">
                <a:solidFill>
                  <a:srgbClr val="3FB98A"/>
                </a:solidFill>
                <a:latin typeface="Unbounded"/>
              </a:rPr>
              <a:t>  →</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62"/>
                                        <p:tgtEl>
                                          <p:spTgt spid="9"/>
                                        </p:tgtEl>
                                      </p:cBhvr>
                                    </p:animEffect>
                                    <p:anim calcmode="lin" valueType="num">
                                      <p:cBhvr additive="base">
                                        <p:cTn id="8" dur="562" decel="100000" fill="hold"/>
                                        <p:tgtEl>
                                          <p:spTgt spid="9"/>
                                        </p:tgtEl>
                                        <p:attrNameLst>
                                          <p:attrName>ppt_y</p:attrName>
                                        </p:attrNameLst>
                                      </p:cBhvr>
                                      <p:tavLst>
                                        <p:tav tm="0">
                                          <p:val>
                                            <p:strVal val="#ppt_y+0.035"/>
                                          </p:val>
                                        </p:tav>
                                        <p:tav tm="100000">
                                          <p:val>
                                            <p:strVal val="#ppt_y"/>
                                          </p:val>
                                        </p:tav>
                                      </p:tavLst>
                                    </p:anim>
                                  </p:childTnLst>
                                </p:cTn>
                              </p:par>
                              <p:par>
                                <p:cTn id="9" presetID="10"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625"/>
                                        <p:tgtEl>
                                          <p:spTgt spid="10"/>
                                        </p:tgtEl>
                                      </p:cBhvr>
                                    </p:animEffect>
                                  </p:childTnLst>
                                </p:cTn>
                              </p:par>
                              <p:par>
                                <p:cTn id="12" presetID="42" presetClass="entr" presetSubtype="0" fill="hold" grpId="0" nodeType="withEffect">
                                  <p:stCondLst>
                                    <p:cond delay="783"/>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750"/>
                                        <p:tgtEl>
                                          <p:spTgt spid="11"/>
                                        </p:tgtEl>
                                      </p:cBhvr>
                                    </p:animEffect>
                                    <p:anim calcmode="lin" valueType="num">
                                      <p:cBhvr additive="base">
                                        <p:cTn id="15" dur="750" decel="100000" fill="hold"/>
                                        <p:tgtEl>
                                          <p:spTgt spid="11"/>
                                        </p:tgtEl>
                                        <p:attrNameLst>
                                          <p:attrName>ppt_y</p:attrName>
                                        </p:attrNameLst>
                                      </p:cBhvr>
                                      <p:tavLst>
                                        <p:tav tm="0">
                                          <p:val>
                                            <p:strVal val="#ppt_y+0.035"/>
                                          </p:val>
                                        </p:tav>
                                        <p:tav tm="100000">
                                          <p:val>
                                            <p:strVal val="#ppt_y"/>
                                          </p:val>
                                        </p:tav>
                                      </p:tavLst>
                                    </p:anim>
                                  </p:childTnLst>
                                </p:cTn>
                              </p:par>
                              <p:par>
                                <p:cTn id="16" presetID="10" presetClass="entr" presetSubtype="0" fill="hold" grpId="0" nodeType="withEffect">
                                  <p:stCondLst>
                                    <p:cond delay="945"/>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625"/>
                                        <p:tgtEl>
                                          <p:spTgt spid="12"/>
                                        </p:tgtEl>
                                      </p:cBhvr>
                                    </p:animEffect>
                                  </p:childTnLst>
                                </p:cTn>
                              </p:par>
                              <p:par>
                                <p:cTn id="19" presetID="42" presetClass="entr" presetSubtype="0" fill="hold" grpId="0" nodeType="withEffect">
                                  <p:stCondLst>
                                    <p:cond delay="1053"/>
                                  </p:stCondLst>
                                  <p:childTnLst>
                                    <p:set>
                                      <p:cBhvr>
                                        <p:cTn id="20" dur="1" fill="hold">
                                          <p:stCondLst>
                                            <p:cond delay="0"/>
                                          </p:stCondLst>
                                        </p:cTn>
                                        <p:tgtEl>
                                          <p:spTgt spid="13"/>
                                        </p:tgtEl>
                                        <p:attrNameLst>
                                          <p:attrName>style.visibility</p:attrName>
                                        </p:attrNameLst>
                                      </p:cBhvr>
                                      <p:to>
                                        <p:strVal val="visible"/>
                                      </p:to>
                                    </p:set>
                                    <p:animEffect transition="in" filter="fade">
                                      <p:cBhvr>
                                        <p:cTn id="21" dur="750"/>
                                        <p:tgtEl>
                                          <p:spTgt spid="13"/>
                                        </p:tgtEl>
                                      </p:cBhvr>
                                    </p:animEffect>
                                    <p:anim calcmode="lin" valueType="num">
                                      <p:cBhvr additive="base">
                                        <p:cTn id="22" dur="750" decel="100000" fill="hold"/>
                                        <p:tgtEl>
                                          <p:spTgt spid="13"/>
                                        </p:tgtEl>
                                        <p:attrNameLst>
                                          <p:attrName>ppt_y</p:attrName>
                                        </p:attrNameLst>
                                      </p:cBhvr>
                                      <p:tavLst>
                                        <p:tav tm="0">
                                          <p:val>
                                            <p:strVal val="#ppt_y+0.035"/>
                                          </p:val>
                                        </p:tav>
                                        <p:tav tm="100000">
                                          <p:val>
                                            <p:strVal val="#ppt_y"/>
                                          </p:val>
                                        </p:tav>
                                      </p:tavLst>
                                    </p:anim>
                                  </p:childTnLst>
                                </p:cTn>
                              </p:par>
                              <p:par>
                                <p:cTn id="23" presetID="10" presetClass="entr" presetSubtype="0" fill="hold" grpId="0" nodeType="withEffect">
                                  <p:stCondLst>
                                    <p:cond delay="1215"/>
                                  </p:stCondLst>
                                  <p:childTnLst>
                                    <p:set>
                                      <p:cBhvr>
                                        <p:cTn id="24" dur="1" fill="hold">
                                          <p:stCondLst>
                                            <p:cond delay="0"/>
                                          </p:stCondLst>
                                        </p:cTn>
                                        <p:tgtEl>
                                          <p:spTgt spid="14"/>
                                        </p:tgtEl>
                                        <p:attrNameLst>
                                          <p:attrName>style.visibility</p:attrName>
                                        </p:attrNameLst>
                                      </p:cBhvr>
                                      <p:to>
                                        <p:strVal val="visible"/>
                                      </p:to>
                                    </p:set>
                                    <p:animEffect transition="in" filter="fade">
                                      <p:cBhvr>
                                        <p:cTn id="25" dur="625"/>
                                        <p:tgtEl>
                                          <p:spTgt spid="14"/>
                                        </p:tgtEl>
                                      </p:cBhvr>
                                    </p:animEffect>
                                  </p:childTnLst>
                                </p:cTn>
                              </p:par>
                              <p:par>
                                <p:cTn id="26" presetID="42" presetClass="entr" presetSubtype="0" fill="hold" grpId="0" nodeType="withEffect">
                                  <p:stCondLst>
                                    <p:cond delay="1323"/>
                                  </p:stCondLst>
                                  <p:childTnLst>
                                    <p:set>
                                      <p:cBhvr>
                                        <p:cTn id="27" dur="1" fill="hold">
                                          <p:stCondLst>
                                            <p:cond delay="0"/>
                                          </p:stCondLst>
                                        </p:cTn>
                                        <p:tgtEl>
                                          <p:spTgt spid="15"/>
                                        </p:tgtEl>
                                        <p:attrNameLst>
                                          <p:attrName>style.visibility</p:attrName>
                                        </p:attrNameLst>
                                      </p:cBhvr>
                                      <p:to>
                                        <p:strVal val="visible"/>
                                      </p:to>
                                    </p:set>
                                    <p:animEffect transition="in" filter="fade">
                                      <p:cBhvr>
                                        <p:cTn id="28" dur="750"/>
                                        <p:tgtEl>
                                          <p:spTgt spid="15"/>
                                        </p:tgtEl>
                                      </p:cBhvr>
                                    </p:animEffect>
                                    <p:anim calcmode="lin" valueType="num">
                                      <p:cBhvr additive="base">
                                        <p:cTn id="29" dur="750" decel="100000" fill="hold"/>
                                        <p:tgtEl>
                                          <p:spTgt spid="15"/>
                                        </p:tgtEl>
                                        <p:attrNameLst>
                                          <p:attrName>ppt_y</p:attrName>
                                        </p:attrNameLst>
                                      </p:cBhvr>
                                      <p:tavLst>
                                        <p:tav tm="0">
                                          <p:val>
                                            <p:strVal val="#ppt_y+0.035"/>
                                          </p:val>
                                        </p:tav>
                                        <p:tav tm="100000">
                                          <p:val>
                                            <p:strVal val="#ppt_y"/>
                                          </p:val>
                                        </p:tav>
                                      </p:tavLst>
                                    </p:anim>
                                  </p:childTnLst>
                                </p:cTn>
                              </p:par>
                              <p:par>
                                <p:cTn id="30" presetID="10" presetClass="entr" presetSubtype="0" fill="hold" grpId="0" nodeType="withEffect">
                                  <p:stCondLst>
                                    <p:cond delay="1485"/>
                                  </p:stCondLst>
                                  <p:childTnLst>
                                    <p:set>
                                      <p:cBhvr>
                                        <p:cTn id="31" dur="1" fill="hold">
                                          <p:stCondLst>
                                            <p:cond delay="0"/>
                                          </p:stCondLst>
                                        </p:cTn>
                                        <p:tgtEl>
                                          <p:spTgt spid="16"/>
                                        </p:tgtEl>
                                        <p:attrNameLst>
                                          <p:attrName>style.visibility</p:attrName>
                                        </p:attrNameLst>
                                      </p:cBhvr>
                                      <p:to>
                                        <p:strVal val="visible"/>
                                      </p:to>
                                    </p:set>
                                    <p:animEffect transition="in" filter="fade">
                                      <p:cBhvr>
                                        <p:cTn id="32" dur="625"/>
                                        <p:tgtEl>
                                          <p:spTgt spid="16"/>
                                        </p:tgtEl>
                                      </p:cBhvr>
                                    </p:animEffect>
                                  </p:childTnLst>
                                </p:cTn>
                              </p:par>
                              <p:par>
                                <p:cTn id="33" presetID="42" presetClass="entr" presetSubtype="0" fill="hold" grpId="0" nodeType="withEffect">
                                  <p:stCondLst>
                                    <p:cond delay="1593"/>
                                  </p:stCondLst>
                                  <p:childTnLst>
                                    <p:set>
                                      <p:cBhvr>
                                        <p:cTn id="34" dur="1" fill="hold">
                                          <p:stCondLst>
                                            <p:cond delay="0"/>
                                          </p:stCondLst>
                                        </p:cTn>
                                        <p:tgtEl>
                                          <p:spTgt spid="17"/>
                                        </p:tgtEl>
                                        <p:attrNameLst>
                                          <p:attrName>style.visibility</p:attrName>
                                        </p:attrNameLst>
                                      </p:cBhvr>
                                      <p:to>
                                        <p:strVal val="visible"/>
                                      </p:to>
                                    </p:set>
                                    <p:animEffect transition="in" filter="fade">
                                      <p:cBhvr>
                                        <p:cTn id="35" dur="750"/>
                                        <p:tgtEl>
                                          <p:spTgt spid="17"/>
                                        </p:tgtEl>
                                      </p:cBhvr>
                                    </p:animEffect>
                                    <p:anim calcmode="lin" valueType="num">
                                      <p:cBhvr additive="base">
                                        <p:cTn id="36" dur="750" decel="100000" fill="hold"/>
                                        <p:tgtEl>
                                          <p:spTgt spid="17"/>
                                        </p:tgtEl>
                                        <p:attrNameLst>
                                          <p:attrName>ppt_y</p:attrName>
                                        </p:attrNameLst>
                                      </p:cBhvr>
                                      <p:tavLst>
                                        <p:tav tm="0">
                                          <p:val>
                                            <p:strVal val="#ppt_y+0.035"/>
                                          </p:val>
                                        </p:tav>
                                        <p:tav tm="100000">
                                          <p:val>
                                            <p:strVal val="#ppt_y"/>
                                          </p:val>
                                        </p:tav>
                                      </p:tavLst>
                                    </p:anim>
                                  </p:childTnLst>
                                </p:cTn>
                              </p:par>
                              <p:par>
                                <p:cTn id="37" presetID="10" presetClass="entr" presetSubtype="0" fill="hold" grpId="0" nodeType="withEffect">
                                  <p:stCondLst>
                                    <p:cond delay="1755"/>
                                  </p:stCondLst>
                                  <p:childTnLst>
                                    <p:set>
                                      <p:cBhvr>
                                        <p:cTn id="38" dur="1" fill="hold">
                                          <p:stCondLst>
                                            <p:cond delay="0"/>
                                          </p:stCondLst>
                                        </p:cTn>
                                        <p:tgtEl>
                                          <p:spTgt spid="18"/>
                                        </p:tgtEl>
                                        <p:attrNameLst>
                                          <p:attrName>style.visibility</p:attrName>
                                        </p:attrNameLst>
                                      </p:cBhvr>
                                      <p:to>
                                        <p:strVal val="visible"/>
                                      </p:to>
                                    </p:set>
                                    <p:animEffect transition="in" filter="fade">
                                      <p:cBhvr>
                                        <p:cTn id="39" dur="625"/>
                                        <p:tgtEl>
                                          <p:spTgt spid="18"/>
                                        </p:tgtEl>
                                      </p:cBhvr>
                                    </p:animEffect>
                                  </p:childTnLst>
                                </p:cTn>
                              </p:par>
                              <p:par>
                                <p:cTn id="40" presetID="42" presetClass="entr" presetSubtype="0" fill="hold" grpId="0" nodeType="withEffect">
                                  <p:stCondLst>
                                    <p:cond delay="1863"/>
                                  </p:stCondLst>
                                  <p:childTnLst>
                                    <p:set>
                                      <p:cBhvr>
                                        <p:cTn id="41" dur="1" fill="hold">
                                          <p:stCondLst>
                                            <p:cond delay="0"/>
                                          </p:stCondLst>
                                        </p:cTn>
                                        <p:tgtEl>
                                          <p:spTgt spid="19"/>
                                        </p:tgtEl>
                                        <p:attrNameLst>
                                          <p:attrName>style.visibility</p:attrName>
                                        </p:attrNameLst>
                                      </p:cBhvr>
                                      <p:to>
                                        <p:strVal val="visible"/>
                                      </p:to>
                                    </p:set>
                                    <p:animEffect transition="in" filter="fade">
                                      <p:cBhvr>
                                        <p:cTn id="42" dur="750"/>
                                        <p:tgtEl>
                                          <p:spTgt spid="19"/>
                                        </p:tgtEl>
                                      </p:cBhvr>
                                    </p:animEffect>
                                    <p:anim calcmode="lin" valueType="num">
                                      <p:cBhvr additive="base">
                                        <p:cTn id="43" dur="750" decel="100000" fill="hold"/>
                                        <p:tgtEl>
                                          <p:spTgt spid="19"/>
                                        </p:tgtEl>
                                        <p:attrNameLst>
                                          <p:attrName>ppt_y</p:attrName>
                                        </p:attrNameLst>
                                      </p:cBhvr>
                                      <p:tavLst>
                                        <p:tav tm="0">
                                          <p:val>
                                            <p:strVal val="#ppt_y+0.035"/>
                                          </p:val>
                                        </p:tav>
                                        <p:tav tm="100000">
                                          <p:val>
                                            <p:strVal val="#ppt_y"/>
                                          </p:val>
                                        </p:tav>
                                      </p:tavLst>
                                    </p:anim>
                                  </p:childTnLst>
                                </p:cTn>
                              </p:par>
                              <p:par>
                                <p:cTn id="44" presetID="10" presetClass="entr" presetSubtype="0" fill="hold" grpId="0" nodeType="withEffect">
                                  <p:stCondLst>
                                    <p:cond delay="2025"/>
                                  </p:stCondLst>
                                  <p:childTnLst>
                                    <p:set>
                                      <p:cBhvr>
                                        <p:cTn id="45" dur="1" fill="hold">
                                          <p:stCondLst>
                                            <p:cond delay="0"/>
                                          </p:stCondLst>
                                        </p:cTn>
                                        <p:tgtEl>
                                          <p:spTgt spid="20"/>
                                        </p:tgtEl>
                                        <p:attrNameLst>
                                          <p:attrName>style.visibility</p:attrName>
                                        </p:attrNameLst>
                                      </p:cBhvr>
                                      <p:to>
                                        <p:strVal val="visible"/>
                                      </p:to>
                                    </p:set>
                                    <p:animEffect transition="in" filter="fade">
                                      <p:cBhvr>
                                        <p:cTn id="46" dur="625"/>
                                        <p:tgtEl>
                                          <p:spTgt spid="20"/>
                                        </p:tgtEl>
                                      </p:cBhvr>
                                    </p:animEffect>
                                  </p:childTnLst>
                                </p:cTn>
                              </p:par>
                              <p:par>
                                <p:cTn id="47" presetID="42" presetClass="entr" presetSubtype="0" fill="hold" grpId="0" nodeType="withEffect">
                                  <p:stCondLst>
                                    <p:cond delay="2133"/>
                                  </p:stCondLst>
                                  <p:childTnLst>
                                    <p:set>
                                      <p:cBhvr>
                                        <p:cTn id="48" dur="1" fill="hold">
                                          <p:stCondLst>
                                            <p:cond delay="0"/>
                                          </p:stCondLst>
                                        </p:cTn>
                                        <p:tgtEl>
                                          <p:spTgt spid="21"/>
                                        </p:tgtEl>
                                        <p:attrNameLst>
                                          <p:attrName>style.visibility</p:attrName>
                                        </p:attrNameLst>
                                      </p:cBhvr>
                                      <p:to>
                                        <p:strVal val="visible"/>
                                      </p:to>
                                    </p:set>
                                    <p:animEffect transition="in" filter="fade">
                                      <p:cBhvr>
                                        <p:cTn id="49" dur="750"/>
                                        <p:tgtEl>
                                          <p:spTgt spid="21"/>
                                        </p:tgtEl>
                                      </p:cBhvr>
                                    </p:animEffect>
                                    <p:anim calcmode="lin" valueType="num">
                                      <p:cBhvr additive="base">
                                        <p:cTn id="50" dur="750" decel="100000" fill="hold"/>
                                        <p:tgtEl>
                                          <p:spTgt spid="21"/>
                                        </p:tgtEl>
                                        <p:attrNameLst>
                                          <p:attrName>ppt_y</p:attrName>
                                        </p:attrNameLst>
                                      </p:cBhvr>
                                      <p:tavLst>
                                        <p:tav tm="0">
                                          <p:val>
                                            <p:strVal val="#ppt_y+0.035"/>
                                          </p:val>
                                        </p:tav>
                                        <p:tav tm="100000">
                                          <p:val>
                                            <p:strVal val="#ppt_y"/>
                                          </p:val>
                                        </p:tav>
                                      </p:tavLst>
                                    </p:anim>
                                  </p:childTnLst>
                                </p:cTn>
                              </p:par>
                              <p:par>
                                <p:cTn id="51" presetID="42" presetClass="path" presetSubtype="0" accel="50000" decel="50000" repeatCount="indefinite" autoRev="1" fill="hold" grpId="0" nodeType="withEffect">
                                  <p:stCondLst>
                                    <p:cond delay="200"/>
                                  </p:stCondLst>
                                  <p:childTnLst>
                                    <p:animMotion origin="layout" path="M 0 0 L 0 -0.012 E" pathEditMode="relative" ptsTypes="">
                                      <p:cBhvr>
                                        <p:cTn id="52" dur="2600" fill="hold"/>
                                        <p:tgtEl>
                                          <p:spTgt spid="5"/>
                                        </p:tgtEl>
                                        <p:attrNameLst>
                                          <p:attrName>ppt_x</p:attrName>
                                          <p:attrName>ppt_y</p:attrName>
                                        </p:attrNameLst>
                                      </p:cBhvr>
                                    </p:animMotion>
                                  </p:childTnLst>
                                </p:cTn>
                              </p:par>
                              <p:par>
                                <p:cTn id="53" presetID="8" presetClass="emph" presetSubtype="0" accel="50000" decel="50000" repeatCount="indefinite" autoRev="1" fill="hold" grpId="0" nodeType="withEffect">
                                  <p:stCondLst>
                                    <p:cond delay="0"/>
                                  </p:stCondLst>
                                  <p:childTnLst>
                                    <p:animRot by="300000">
                                      <p:cBhvr>
                                        <p:cTn id="5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420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306253"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01</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The basic problem</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What risk is and why anyone forecasts it</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6675120" y="-2432304"/>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4297680" y="539496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71616" y="2743200"/>
            <a:ext cx="27432" cy="3520440"/>
          </a:xfrm>
          <a:prstGeom prst="rect">
            <a:avLst/>
          </a:prstGeom>
          <a:solidFill>
            <a:srgbClr val="15372E">
              <a:alpha val="90000"/>
            </a:srgbClr>
          </a:solidFill>
          <a:ln>
            <a:noFill/>
          </a:ln>
        </p:spPr>
        <p:txBody>
          <a:bodyPr rtlCol="0" anchor="ctr"/>
          <a:lstStyle/>
          <a:p>
            <a:pPr algn="ctr"/>
          </a:p>
        </p:txBody>
      </p:sp>
      <p:sp>
        <p:nvSpPr>
          <p:cNvPr id="4" name="!!ring"/>
          <p:cNvSpPr/>
          <p:nvPr/>
        </p:nvSpPr>
        <p:spPr>
          <a:xfrm rot="6300000">
            <a:off x="10698480" y="484632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92256" y="548640"/>
            <a:ext cx="704088" cy="32004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741671"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A stock's price moves every day</a:t>
            </a:r>
          </a:p>
        </p:txBody>
      </p:sp>
      <p:sp>
        <p:nvSpPr>
          <p:cNvPr id="10" name="intro"/>
          <p:cNvSpPr txBox="1"/>
          <p:nvPr/>
        </p:nvSpPr>
        <p:spPr>
          <a:xfrm>
            <a:off x="822960" y="1874520"/>
            <a:ext cx="10515600" cy="777240"/>
          </a:xfrm>
          <a:prstGeom prst="rect">
            <a:avLst/>
          </a:prstGeom>
          <a:noFill/>
        </p:spPr>
        <p:txBody>
          <a:bodyPr wrap="square" anchor="t" lIns="0" rIns="0" tIns="0" bIns="0">
            <a:noAutofit/>
          </a:bodyPr>
          <a:lstStyle/>
          <a:p>
            <a:pPr algn="l">
              <a:lnSpc>
                <a:spcPct val="125000"/>
              </a:lnSpc>
            </a:pPr>
            <a:r>
              <a:rPr sz="1400" b="0">
                <a:solidFill>
                  <a:srgbClr val="9CC5B0"/>
                </a:solidFill>
                <a:latin typeface="Unbounded"/>
              </a:rPr>
              <a:t>A return is the percentage change in a stock's price from one day to the next. If a share closes at 100 rupees today and 97 tomorrow, the return is about -3%. Returns are what risk is measured on.</a:t>
            </a:r>
          </a:p>
        </p:txBody>
      </p:sp>
      <p:sp>
        <p:nvSpPr>
          <p:cNvPr id="11" name="mark0"/>
          <p:cNvSpPr/>
          <p:nvPr/>
        </p:nvSpPr>
        <p:spPr>
          <a:xfrm>
            <a:off x="822960" y="2853690"/>
            <a:ext cx="45720" cy="194310"/>
          </a:xfrm>
          <a:prstGeom prst="rect">
            <a:avLst/>
          </a:prstGeom>
          <a:solidFill>
            <a:srgbClr val="B6F36B"/>
          </a:solidFill>
          <a:ln>
            <a:noFill/>
          </a:ln>
        </p:spPr>
        <p:txBody>
          <a:bodyPr rtlCol="0" anchor="ctr"/>
          <a:lstStyle/>
          <a:p>
            <a:pPr algn="ctr"/>
          </a:p>
        </p:txBody>
      </p:sp>
      <p:sp>
        <p:nvSpPr>
          <p:cNvPr id="12" name="point0"/>
          <p:cNvSpPr txBox="1"/>
          <p:nvPr/>
        </p:nvSpPr>
        <p:spPr>
          <a:xfrm>
            <a:off x="1051560" y="278892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Most days the move is small: a fraction of a percent up or down.</a:t>
            </a:r>
          </a:p>
        </p:txBody>
      </p:sp>
      <p:sp>
        <p:nvSpPr>
          <p:cNvPr id="13" name="mark1"/>
          <p:cNvSpPr/>
          <p:nvPr/>
        </p:nvSpPr>
        <p:spPr>
          <a:xfrm>
            <a:off x="822960" y="4027170"/>
            <a:ext cx="45720" cy="194310"/>
          </a:xfrm>
          <a:prstGeom prst="rect">
            <a:avLst/>
          </a:prstGeom>
          <a:solidFill>
            <a:srgbClr val="B6F36B"/>
          </a:solidFill>
          <a:ln>
            <a:noFill/>
          </a:ln>
        </p:spPr>
        <p:txBody>
          <a:bodyPr rtlCol="0" anchor="ctr"/>
          <a:lstStyle/>
          <a:p>
            <a:pPr algn="ctr"/>
          </a:p>
        </p:txBody>
      </p:sp>
      <p:sp>
        <p:nvSpPr>
          <p:cNvPr id="14" name="point1"/>
          <p:cNvSpPr txBox="1"/>
          <p:nvPr/>
        </p:nvSpPr>
        <p:spPr>
          <a:xfrm>
            <a:off x="1051560" y="396240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Some days are calm, others are wild. How much returns swing is called volatility.</a:t>
            </a:r>
          </a:p>
        </p:txBody>
      </p:sp>
      <p:sp>
        <p:nvSpPr>
          <p:cNvPr id="15" name="mark2"/>
          <p:cNvSpPr/>
          <p:nvPr/>
        </p:nvSpPr>
        <p:spPr>
          <a:xfrm>
            <a:off x="822960" y="5200650"/>
            <a:ext cx="45720" cy="194310"/>
          </a:xfrm>
          <a:prstGeom prst="rect">
            <a:avLst/>
          </a:prstGeom>
          <a:solidFill>
            <a:srgbClr val="B6F36B"/>
          </a:solidFill>
          <a:ln>
            <a:noFill/>
          </a:ln>
        </p:spPr>
        <p:txBody>
          <a:bodyPr rtlCol="0" anchor="ctr"/>
          <a:lstStyle/>
          <a:p>
            <a:pPr algn="ctr"/>
          </a:p>
        </p:txBody>
      </p:sp>
      <p:sp>
        <p:nvSpPr>
          <p:cNvPr id="16" name="point2"/>
          <p:cNvSpPr txBox="1"/>
          <p:nvPr/>
        </p:nvSpPr>
        <p:spPr>
          <a:xfrm>
            <a:off x="1051560" y="513588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Volatility comes in clusters: a wild day is usually followed by more wild days.</a:t>
            </a:r>
          </a:p>
        </p:txBody>
      </p:sp>
      <p:sp>
        <p:nvSpPr>
          <p:cNvPr id="17" name="mark3"/>
          <p:cNvSpPr/>
          <p:nvPr/>
        </p:nvSpPr>
        <p:spPr>
          <a:xfrm>
            <a:off x="6263640" y="2853690"/>
            <a:ext cx="45720" cy="194310"/>
          </a:xfrm>
          <a:prstGeom prst="rect">
            <a:avLst/>
          </a:prstGeom>
          <a:solidFill>
            <a:srgbClr val="3FB98A"/>
          </a:solidFill>
          <a:ln>
            <a:noFill/>
          </a:ln>
        </p:spPr>
        <p:txBody>
          <a:bodyPr rtlCol="0" anchor="ctr"/>
          <a:lstStyle/>
          <a:p>
            <a:pPr algn="ctr"/>
          </a:p>
        </p:txBody>
      </p:sp>
      <p:sp>
        <p:nvSpPr>
          <p:cNvPr id="18" name="point3"/>
          <p:cNvSpPr txBox="1"/>
          <p:nvPr/>
        </p:nvSpPr>
        <p:spPr>
          <a:xfrm>
            <a:off x="6492240" y="278892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That clustering is what makes risk partly predictable from the recent past.</a:t>
            </a:r>
          </a:p>
        </p:txBody>
      </p:sp>
      <p:sp>
        <p:nvSpPr>
          <p:cNvPr id="19" name="mark4"/>
          <p:cNvSpPr/>
          <p:nvPr/>
        </p:nvSpPr>
        <p:spPr>
          <a:xfrm>
            <a:off x="6263640" y="4027170"/>
            <a:ext cx="45720" cy="194310"/>
          </a:xfrm>
          <a:prstGeom prst="rect">
            <a:avLst/>
          </a:prstGeom>
          <a:solidFill>
            <a:srgbClr val="3FB98A"/>
          </a:solidFill>
          <a:ln>
            <a:noFill/>
          </a:ln>
        </p:spPr>
        <p:txBody>
          <a:bodyPr rtlCol="0" anchor="ctr"/>
          <a:lstStyle/>
          <a:p>
            <a:pPr algn="ctr"/>
          </a:p>
        </p:txBody>
      </p:sp>
      <p:sp>
        <p:nvSpPr>
          <p:cNvPr id="20" name="point4"/>
          <p:cNvSpPr txBox="1"/>
          <p:nvPr/>
        </p:nvSpPr>
        <p:spPr>
          <a:xfrm>
            <a:off x="6492240" y="396240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The rare, very bad days are called the tail. Big losses live there.</a:t>
            </a:r>
          </a:p>
        </p:txBody>
      </p:sp>
      <p:sp>
        <p:nvSpPr>
          <p:cNvPr id="21" name="mark5"/>
          <p:cNvSpPr/>
          <p:nvPr/>
        </p:nvSpPr>
        <p:spPr>
          <a:xfrm>
            <a:off x="6263640" y="5200650"/>
            <a:ext cx="45720" cy="194310"/>
          </a:xfrm>
          <a:prstGeom prst="rect">
            <a:avLst/>
          </a:prstGeom>
          <a:solidFill>
            <a:srgbClr val="3FB98A"/>
          </a:solidFill>
          <a:ln>
            <a:noFill/>
          </a:ln>
        </p:spPr>
        <p:txBody>
          <a:bodyPr rtlCol="0" anchor="ctr"/>
          <a:lstStyle/>
          <a:p>
            <a:pPr algn="ctr"/>
          </a:p>
        </p:txBody>
      </p:sp>
      <p:sp>
        <p:nvSpPr>
          <p:cNvPr id="22" name="point5"/>
          <p:cNvSpPr txBox="1"/>
          <p:nvPr/>
        </p:nvSpPr>
        <p:spPr>
          <a:xfrm>
            <a:off x="6492240" y="5135880"/>
            <a:ext cx="4572000" cy="1100328"/>
          </a:xfrm>
          <a:prstGeom prst="rect">
            <a:avLst/>
          </a:prstGeom>
          <a:noFill/>
        </p:spPr>
        <p:txBody>
          <a:bodyPr wrap="square" anchor="t" lIns="0" rIns="0" tIns="0" bIns="0">
            <a:noAutofit/>
          </a:bodyPr>
          <a:lstStyle/>
          <a:p>
            <a:pPr algn="l">
              <a:lnSpc>
                <a:spcPct val="120000"/>
              </a:lnSpc>
            </a:pPr>
            <a:r>
              <a:rPr sz="1700" b="0">
                <a:solidFill>
                  <a:srgbClr val="ECF8EF"/>
                </a:solidFill>
                <a:latin typeface="Unbounded"/>
              </a:rPr>
              <a:t>Risk forecasting is about the tail, not the average day.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10" presetClass="entr" presetSubtype="0" fill="hold" grpId="0" nodeType="withEffect">
                                  <p:stCondLst>
                                    <p:cond delay="54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childTnLst>
                                </p:cTn>
                              </p:par>
                              <p:par>
                                <p:cTn id="12" presetID="22" presetClass="entr" presetSubtype="4" fill="hold" grpId="0" nodeType="withEffect">
                                  <p:stCondLst>
                                    <p:cond delay="81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375"/>
                                        <p:tgtEl>
                                          <p:spTgt spid="11"/>
                                        </p:tgtEl>
                                      </p:cBhvr>
                                    </p:animEffect>
                                  </p:childTnLst>
                                </p:cTn>
                              </p:par>
                              <p:par>
                                <p:cTn id="15" presetID="42" presetClass="entr" presetSubtype="0" fill="hold" grpId="0" nodeType="withEffect">
                                  <p:stCondLst>
                                    <p:cond delay="877"/>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87"/>
                                        <p:tgtEl>
                                          <p:spTgt spid="12"/>
                                        </p:tgtEl>
                                      </p:cBhvr>
                                    </p:animEffect>
                                    <p:anim calcmode="lin" valueType="num">
                                      <p:cBhvr additive="base">
                                        <p:cTn id="18" dur="687" decel="100000" fill="hold"/>
                                        <p:tgtEl>
                                          <p:spTgt spid="12"/>
                                        </p:tgtEl>
                                        <p:attrNameLst>
                                          <p:attrName>ppt_y</p:attrName>
                                        </p:attrNameLst>
                                      </p:cBhvr>
                                      <p:tavLst>
                                        <p:tav tm="0">
                                          <p:val>
                                            <p:strVal val="#ppt_y+0.035"/>
                                          </p:val>
                                        </p:tav>
                                        <p:tav tm="100000">
                                          <p:val>
                                            <p:strVal val="#ppt_y"/>
                                          </p:val>
                                        </p:tav>
                                      </p:tavLst>
                                    </p:anim>
                                  </p:childTnLst>
                                </p:cTn>
                              </p:par>
                              <p:par>
                                <p:cTn id="19" presetID="22" presetClass="entr" presetSubtype="4" fill="hold" grpId="0" nodeType="withEffect">
                                  <p:stCondLst>
                                    <p:cond delay="1012"/>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375"/>
                                        <p:tgtEl>
                                          <p:spTgt spid="13"/>
                                        </p:tgtEl>
                                      </p:cBhvr>
                                    </p:animEffect>
                                  </p:childTnLst>
                                </p:cTn>
                              </p:par>
                              <p:par>
                                <p:cTn id="22" presetID="42" presetClass="entr" presetSubtype="0" fill="hold" grpId="0" nodeType="withEffect">
                                  <p:stCondLst>
                                    <p:cond delay="10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87"/>
                                        <p:tgtEl>
                                          <p:spTgt spid="14"/>
                                        </p:tgtEl>
                                      </p:cBhvr>
                                    </p:animEffect>
                                    <p:anim calcmode="lin" valueType="num">
                                      <p:cBhvr additive="base">
                                        <p:cTn id="25" dur="687" decel="100000" fill="hold"/>
                                        <p:tgtEl>
                                          <p:spTgt spid="14"/>
                                        </p:tgtEl>
                                        <p:attrNameLst>
                                          <p:attrName>ppt_y</p:attrName>
                                        </p:attrNameLst>
                                      </p:cBhvr>
                                      <p:tavLst>
                                        <p:tav tm="0">
                                          <p:val>
                                            <p:strVal val="#ppt_y+0.035"/>
                                          </p:val>
                                        </p:tav>
                                        <p:tav tm="100000">
                                          <p:val>
                                            <p:strVal val="#ppt_y"/>
                                          </p:val>
                                        </p:tav>
                                      </p:tavLst>
                                    </p:anim>
                                  </p:childTnLst>
                                </p:cTn>
                              </p:par>
                              <p:par>
                                <p:cTn id="26" presetID="22" presetClass="entr" presetSubtype="4" fill="hold" grpId="0" nodeType="withEffect">
                                  <p:stCondLst>
                                    <p:cond delay="1215"/>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375"/>
                                        <p:tgtEl>
                                          <p:spTgt spid="15"/>
                                        </p:tgtEl>
                                      </p:cBhvr>
                                    </p:animEffect>
                                  </p:childTnLst>
                                </p:cTn>
                              </p:par>
                              <p:par>
                                <p:cTn id="29" presetID="42" presetClass="entr" presetSubtype="0" fill="hold" grpId="0" nodeType="withEffect">
                                  <p:stCondLst>
                                    <p:cond delay="1282"/>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687"/>
                                        <p:tgtEl>
                                          <p:spTgt spid="16"/>
                                        </p:tgtEl>
                                      </p:cBhvr>
                                    </p:animEffect>
                                    <p:anim calcmode="lin" valueType="num">
                                      <p:cBhvr additive="base">
                                        <p:cTn id="32" dur="687" decel="100000" fill="hold"/>
                                        <p:tgtEl>
                                          <p:spTgt spid="16"/>
                                        </p:tgtEl>
                                        <p:attrNameLst>
                                          <p:attrName>ppt_y</p:attrName>
                                        </p:attrNameLst>
                                      </p:cBhvr>
                                      <p:tavLst>
                                        <p:tav tm="0">
                                          <p:val>
                                            <p:strVal val="#ppt_y+0.035"/>
                                          </p:val>
                                        </p:tav>
                                        <p:tav tm="100000">
                                          <p:val>
                                            <p:strVal val="#ppt_y"/>
                                          </p:val>
                                        </p:tav>
                                      </p:tavLst>
                                    </p:anim>
                                  </p:childTnLst>
                                </p:cTn>
                              </p:par>
                              <p:par>
                                <p:cTn id="33" presetID="22" presetClass="entr" presetSubtype="4" fill="hold" grpId="0" nodeType="withEffect">
                                  <p:stCondLst>
                                    <p:cond delay="1417"/>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375"/>
                                        <p:tgtEl>
                                          <p:spTgt spid="17"/>
                                        </p:tgtEl>
                                      </p:cBhvr>
                                    </p:animEffect>
                                  </p:childTnLst>
                                </p:cTn>
                              </p:par>
                              <p:par>
                                <p:cTn id="36" presetID="42" presetClass="entr" presetSubtype="0" fill="hold" grpId="0" nodeType="withEffect">
                                  <p:stCondLst>
                                    <p:cond delay="1485"/>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87"/>
                                        <p:tgtEl>
                                          <p:spTgt spid="18"/>
                                        </p:tgtEl>
                                      </p:cBhvr>
                                    </p:animEffect>
                                    <p:anim calcmode="lin" valueType="num">
                                      <p:cBhvr additive="base">
                                        <p:cTn id="39" dur="687" decel="100000" fill="hold"/>
                                        <p:tgtEl>
                                          <p:spTgt spid="18"/>
                                        </p:tgtEl>
                                        <p:attrNameLst>
                                          <p:attrName>ppt_y</p:attrName>
                                        </p:attrNameLst>
                                      </p:cBhvr>
                                      <p:tavLst>
                                        <p:tav tm="0">
                                          <p:val>
                                            <p:strVal val="#ppt_y+0.035"/>
                                          </p:val>
                                        </p:tav>
                                        <p:tav tm="100000">
                                          <p:val>
                                            <p:strVal val="#ppt_y"/>
                                          </p:val>
                                        </p:tav>
                                      </p:tavLst>
                                    </p:anim>
                                  </p:childTnLst>
                                </p:cTn>
                              </p:par>
                              <p:par>
                                <p:cTn id="40" presetID="22" presetClass="entr" presetSubtype="4" fill="hold" grpId="0" nodeType="withEffect">
                                  <p:stCondLst>
                                    <p:cond delay="162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375"/>
                                        <p:tgtEl>
                                          <p:spTgt spid="19"/>
                                        </p:tgtEl>
                                      </p:cBhvr>
                                    </p:animEffect>
                                  </p:childTnLst>
                                </p:cTn>
                              </p:par>
                              <p:par>
                                <p:cTn id="43" presetID="42" presetClass="entr" presetSubtype="0" fill="hold" grpId="0" nodeType="withEffect">
                                  <p:stCondLst>
                                    <p:cond delay="1687"/>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687"/>
                                        <p:tgtEl>
                                          <p:spTgt spid="20"/>
                                        </p:tgtEl>
                                      </p:cBhvr>
                                    </p:animEffect>
                                    <p:anim calcmode="lin" valueType="num">
                                      <p:cBhvr additive="base">
                                        <p:cTn id="46" dur="687" decel="100000" fill="hold"/>
                                        <p:tgtEl>
                                          <p:spTgt spid="20"/>
                                        </p:tgtEl>
                                        <p:attrNameLst>
                                          <p:attrName>ppt_y</p:attrName>
                                        </p:attrNameLst>
                                      </p:cBhvr>
                                      <p:tavLst>
                                        <p:tav tm="0">
                                          <p:val>
                                            <p:strVal val="#ppt_y+0.035"/>
                                          </p:val>
                                        </p:tav>
                                        <p:tav tm="100000">
                                          <p:val>
                                            <p:strVal val="#ppt_y"/>
                                          </p:val>
                                        </p:tav>
                                      </p:tavLst>
                                    </p:anim>
                                  </p:childTnLst>
                                </p:cTn>
                              </p:par>
                              <p:par>
                                <p:cTn id="47" presetID="22" presetClass="entr" presetSubtype="4" fill="hold" grpId="0" nodeType="withEffect">
                                  <p:stCondLst>
                                    <p:cond delay="1822"/>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375"/>
                                        <p:tgtEl>
                                          <p:spTgt spid="21"/>
                                        </p:tgtEl>
                                      </p:cBhvr>
                                    </p:animEffect>
                                  </p:childTnLst>
                                </p:cTn>
                              </p:par>
                              <p:par>
                                <p:cTn id="50" presetID="42" presetClass="entr" presetSubtype="0" fill="hold" grpId="0" nodeType="withEffect">
                                  <p:stCondLst>
                                    <p:cond delay="189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87"/>
                                        <p:tgtEl>
                                          <p:spTgt spid="22"/>
                                        </p:tgtEl>
                                      </p:cBhvr>
                                    </p:animEffect>
                                    <p:anim calcmode="lin" valueType="num">
                                      <p:cBhvr additive="base">
                                        <p:cTn id="53" dur="687" decel="100000" fill="hold"/>
                                        <p:tgtEl>
                                          <p:spTgt spid="22"/>
                                        </p:tgtEl>
                                        <p:attrNameLst>
                                          <p:attrName>ppt_y</p:attrName>
                                        </p:attrNameLst>
                                      </p:cBhvr>
                                      <p:tavLst>
                                        <p:tav tm="0">
                                          <p:val>
                                            <p:strVal val="#ppt_y+0.035"/>
                                          </p:val>
                                        </p:tav>
                                        <p:tav tm="100000">
                                          <p:val>
                                            <p:strVal val="#ppt_y"/>
                                          </p:val>
                                        </p:tav>
                                      </p:tavLst>
                                    </p:anim>
                                  </p:childTnLst>
                                </p:cTn>
                              </p:par>
                              <p:par>
                                <p:cTn id="54" presetID="42" presetClass="path" presetSubtype="0" accel="50000" decel="50000" repeatCount="indefinite" autoRev="1" fill="hold" grpId="0" nodeType="withEffect">
                                  <p:stCondLst>
                                    <p:cond delay="200"/>
                                  </p:stCondLst>
                                  <p:childTnLst>
                                    <p:animMotion origin="layout" path="M 0 0 L 0 -0.012 E" pathEditMode="relative" ptsTypes="">
                                      <p:cBhvr>
                                        <p:cTn id="55" dur="2600" fill="hold"/>
                                        <p:tgtEl>
                                          <p:spTgt spid="5"/>
                                        </p:tgtEl>
                                        <p:attrNameLst>
                                          <p:attrName>ppt_x</p:attrName>
                                          <p:attrName>ppt_y</p:attrName>
                                        </p:attrNameLst>
                                      </p:cBhvr>
                                    </p:animMotion>
                                  </p:childTnLst>
                                </p:cTn>
                              </p:par>
                              <p:par>
                                <p:cTn id="56" presetID="8" presetClass="emph" presetSubtype="0" accel="50000" decel="50000" repeatCount="indefinite" autoRev="1" fill="hold" grpId="0" nodeType="withEffect">
                                  <p:stCondLst>
                                    <p:cond delay="0"/>
                                  </p:stCondLst>
                                  <p:childTnLst>
                                    <p:animRot by="300000">
                                      <p:cBhvr>
                                        <p:cTn id="57"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8" grpId="0" animBg="1"/>
      <p:bldP spid="20" grpId="0" animBg="1"/>
      <p:bldP spid="22"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6675120" y="-2432304"/>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4297680" y="539496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71616" y="2743200"/>
            <a:ext cx="27432" cy="3520440"/>
          </a:xfrm>
          <a:prstGeom prst="rect">
            <a:avLst/>
          </a:prstGeom>
          <a:solidFill>
            <a:srgbClr val="15372E">
              <a:alpha val="90000"/>
            </a:srgbClr>
          </a:solidFill>
          <a:ln>
            <a:noFill/>
          </a:ln>
        </p:spPr>
        <p:txBody>
          <a:bodyPr rtlCol="0" anchor="ctr"/>
          <a:lstStyle/>
          <a:p>
            <a:pPr algn="ctr"/>
          </a:p>
        </p:txBody>
      </p:sp>
      <p:sp>
        <p:nvSpPr>
          <p:cNvPr id="4" name="!!ring"/>
          <p:cNvSpPr/>
          <p:nvPr/>
        </p:nvSpPr>
        <p:spPr>
          <a:xfrm rot="10620000">
            <a:off x="10698480" y="484632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92256" y="548640"/>
            <a:ext cx="704088" cy="32004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2177088"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Two numbers banks forecast every evening</a:t>
            </a:r>
          </a:p>
        </p:txBody>
      </p:sp>
      <p:sp>
        <p:nvSpPr>
          <p:cNvPr id="10" name="intro"/>
          <p:cNvSpPr txBox="1"/>
          <p:nvPr/>
        </p:nvSpPr>
        <p:spPr>
          <a:xfrm>
            <a:off x="822960" y="1874520"/>
            <a:ext cx="10515600" cy="777240"/>
          </a:xfrm>
          <a:prstGeom prst="rect">
            <a:avLst/>
          </a:prstGeom>
          <a:noFill/>
        </p:spPr>
        <p:txBody>
          <a:bodyPr wrap="square" anchor="t" lIns="0" rIns="0" tIns="0" bIns="0">
            <a:noAutofit/>
          </a:bodyPr>
          <a:lstStyle/>
          <a:p>
            <a:pPr algn="l">
              <a:lnSpc>
                <a:spcPct val="125000"/>
              </a:lnSpc>
            </a:pPr>
            <a:r>
              <a:rPr sz="1700" b="0">
                <a:solidFill>
                  <a:srgbClr val="9CC5B0"/>
                </a:solidFill>
                <a:latin typeface="Unbounded"/>
              </a:rPr>
              <a:t>Each evening a bank must know how much it could lose tomorrow, so it holds enough capital.</a:t>
            </a:r>
          </a:p>
        </p:txBody>
      </p:sp>
      <p:sp>
        <p:nvSpPr>
          <p:cNvPr id="11" name="mark0"/>
          <p:cNvSpPr/>
          <p:nvPr/>
        </p:nvSpPr>
        <p:spPr>
          <a:xfrm>
            <a:off x="822960" y="2846070"/>
            <a:ext cx="45720" cy="171450"/>
          </a:xfrm>
          <a:prstGeom prst="rect">
            <a:avLst/>
          </a:prstGeom>
          <a:solidFill>
            <a:srgbClr val="B6F36B"/>
          </a:solidFill>
          <a:ln>
            <a:noFill/>
          </a:ln>
        </p:spPr>
        <p:txBody>
          <a:bodyPr rtlCol="0" anchor="ctr"/>
          <a:lstStyle/>
          <a:p>
            <a:pPr algn="ctr"/>
          </a:p>
        </p:txBody>
      </p:sp>
      <p:sp>
        <p:nvSpPr>
          <p:cNvPr id="12" name="point0"/>
          <p:cNvSpPr txBox="1"/>
          <p:nvPr/>
        </p:nvSpPr>
        <p:spPr>
          <a:xfrm>
            <a:off x="1051560" y="278892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Value-at-Risk (VaR): a loss threshold. A 2.5% VaR of -3% means a loss worse than 3% happens on about 1 day in 40.</a:t>
            </a:r>
          </a:p>
        </p:txBody>
      </p:sp>
      <p:sp>
        <p:nvSpPr>
          <p:cNvPr id="13" name="mark1"/>
          <p:cNvSpPr/>
          <p:nvPr/>
        </p:nvSpPr>
        <p:spPr>
          <a:xfrm>
            <a:off x="822960" y="4019550"/>
            <a:ext cx="45720" cy="171450"/>
          </a:xfrm>
          <a:prstGeom prst="rect">
            <a:avLst/>
          </a:prstGeom>
          <a:solidFill>
            <a:srgbClr val="B6F36B"/>
          </a:solidFill>
          <a:ln>
            <a:noFill/>
          </a:ln>
        </p:spPr>
        <p:txBody>
          <a:bodyPr rtlCol="0" anchor="ctr"/>
          <a:lstStyle/>
          <a:p>
            <a:pPr algn="ctr"/>
          </a:p>
        </p:txBody>
      </p:sp>
      <p:sp>
        <p:nvSpPr>
          <p:cNvPr id="14" name="point1"/>
          <p:cNvSpPr txBox="1"/>
          <p:nvPr/>
        </p:nvSpPr>
        <p:spPr>
          <a:xfrm>
            <a:off x="1051560" y="396240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Expected Shortfall (ES): the average loss on those worst days. If VaR is -3%, ES might be -4.2%.</a:t>
            </a:r>
          </a:p>
        </p:txBody>
      </p:sp>
      <p:sp>
        <p:nvSpPr>
          <p:cNvPr id="15" name="mark2"/>
          <p:cNvSpPr/>
          <p:nvPr/>
        </p:nvSpPr>
        <p:spPr>
          <a:xfrm>
            <a:off x="822960" y="5193030"/>
            <a:ext cx="45720" cy="171450"/>
          </a:xfrm>
          <a:prstGeom prst="rect">
            <a:avLst/>
          </a:prstGeom>
          <a:solidFill>
            <a:srgbClr val="B6F36B"/>
          </a:solidFill>
          <a:ln>
            <a:noFill/>
          </a:ln>
        </p:spPr>
        <p:txBody>
          <a:bodyPr rtlCol="0" anchor="ctr"/>
          <a:lstStyle/>
          <a:p>
            <a:pPr algn="ctr"/>
          </a:p>
        </p:txBody>
      </p:sp>
      <p:sp>
        <p:nvSpPr>
          <p:cNvPr id="16" name="point2"/>
          <p:cNvSpPr txBox="1"/>
          <p:nvPr/>
        </p:nvSpPr>
        <p:spPr>
          <a:xfrm>
            <a:off x="1051560" y="513588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ES always shows a bigger loss than VaR, because it looks inside the bad tail.</a:t>
            </a:r>
          </a:p>
        </p:txBody>
      </p:sp>
      <p:sp>
        <p:nvSpPr>
          <p:cNvPr id="17" name="mark3"/>
          <p:cNvSpPr/>
          <p:nvPr/>
        </p:nvSpPr>
        <p:spPr>
          <a:xfrm>
            <a:off x="6263640" y="2846070"/>
            <a:ext cx="45720" cy="171450"/>
          </a:xfrm>
          <a:prstGeom prst="rect">
            <a:avLst/>
          </a:prstGeom>
          <a:solidFill>
            <a:srgbClr val="3FB98A"/>
          </a:solidFill>
          <a:ln>
            <a:noFill/>
          </a:ln>
        </p:spPr>
        <p:txBody>
          <a:bodyPr rtlCol="0" anchor="ctr"/>
          <a:lstStyle/>
          <a:p>
            <a:pPr algn="ctr"/>
          </a:p>
        </p:txBody>
      </p:sp>
      <p:sp>
        <p:nvSpPr>
          <p:cNvPr id="18" name="point3"/>
          <p:cNvSpPr txBox="1"/>
          <p:nvPr/>
        </p:nvSpPr>
        <p:spPr>
          <a:xfrm>
            <a:off x="6492240" y="278892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Tail level alpha = how rare 'bad' is. We use 2.5% (1 day in 40), the Basel banking standard.</a:t>
            </a:r>
          </a:p>
        </p:txBody>
      </p:sp>
      <p:sp>
        <p:nvSpPr>
          <p:cNvPr id="19" name="mark4"/>
          <p:cNvSpPr/>
          <p:nvPr/>
        </p:nvSpPr>
        <p:spPr>
          <a:xfrm>
            <a:off x="6263640" y="4019550"/>
            <a:ext cx="45720" cy="171450"/>
          </a:xfrm>
          <a:prstGeom prst="rect">
            <a:avLst/>
          </a:prstGeom>
          <a:solidFill>
            <a:srgbClr val="3FB98A"/>
          </a:solidFill>
          <a:ln>
            <a:noFill/>
          </a:ln>
        </p:spPr>
        <p:txBody>
          <a:bodyPr rtlCol="0" anchor="ctr"/>
          <a:lstStyle/>
          <a:p>
            <a:pPr algn="ctr"/>
          </a:p>
        </p:txBody>
      </p:sp>
      <p:sp>
        <p:nvSpPr>
          <p:cNvPr id="20" name="point4"/>
          <p:cNvSpPr txBox="1"/>
          <p:nvPr/>
        </p:nvSpPr>
        <p:spPr>
          <a:xfrm>
            <a:off x="6492240" y="396240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Global bank rules (Basel) now set market-risk capital using ES at this 2.5% level.</a:t>
            </a:r>
          </a:p>
        </p:txBody>
      </p:sp>
      <p:sp>
        <p:nvSpPr>
          <p:cNvPr id="21" name="mark5"/>
          <p:cNvSpPr/>
          <p:nvPr/>
        </p:nvSpPr>
        <p:spPr>
          <a:xfrm>
            <a:off x="6263640" y="5193030"/>
            <a:ext cx="45720" cy="171450"/>
          </a:xfrm>
          <a:prstGeom prst="rect">
            <a:avLst/>
          </a:prstGeom>
          <a:solidFill>
            <a:srgbClr val="3FB98A"/>
          </a:solidFill>
          <a:ln>
            <a:noFill/>
          </a:ln>
        </p:spPr>
        <p:txBody>
          <a:bodyPr rtlCol="0" anchor="ctr"/>
          <a:lstStyle/>
          <a:p>
            <a:pPr algn="ctr"/>
          </a:p>
        </p:txBody>
      </p:sp>
      <p:sp>
        <p:nvSpPr>
          <p:cNvPr id="22" name="point5"/>
          <p:cNvSpPr txBox="1"/>
          <p:nvPr/>
        </p:nvSpPr>
        <p:spPr>
          <a:xfrm>
            <a:off x="6492240" y="513588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Too low a forecast is dangerous; too high wastes money. Accuracy matters both ways.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10" presetClass="entr" presetSubtype="0" fill="hold" grpId="0" nodeType="withEffect">
                                  <p:stCondLst>
                                    <p:cond delay="54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childTnLst>
                                </p:cTn>
                              </p:par>
                              <p:par>
                                <p:cTn id="12" presetID="22" presetClass="entr" presetSubtype="4" fill="hold" grpId="0" nodeType="withEffect">
                                  <p:stCondLst>
                                    <p:cond delay="81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375"/>
                                        <p:tgtEl>
                                          <p:spTgt spid="11"/>
                                        </p:tgtEl>
                                      </p:cBhvr>
                                    </p:animEffect>
                                  </p:childTnLst>
                                </p:cTn>
                              </p:par>
                              <p:par>
                                <p:cTn id="15" presetID="42" presetClass="entr" presetSubtype="0" fill="hold" grpId="0" nodeType="withEffect">
                                  <p:stCondLst>
                                    <p:cond delay="877"/>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87"/>
                                        <p:tgtEl>
                                          <p:spTgt spid="12"/>
                                        </p:tgtEl>
                                      </p:cBhvr>
                                    </p:animEffect>
                                    <p:anim calcmode="lin" valueType="num">
                                      <p:cBhvr additive="base">
                                        <p:cTn id="18" dur="687" decel="100000" fill="hold"/>
                                        <p:tgtEl>
                                          <p:spTgt spid="12"/>
                                        </p:tgtEl>
                                        <p:attrNameLst>
                                          <p:attrName>ppt_y</p:attrName>
                                        </p:attrNameLst>
                                      </p:cBhvr>
                                      <p:tavLst>
                                        <p:tav tm="0">
                                          <p:val>
                                            <p:strVal val="#ppt_y+0.035"/>
                                          </p:val>
                                        </p:tav>
                                        <p:tav tm="100000">
                                          <p:val>
                                            <p:strVal val="#ppt_y"/>
                                          </p:val>
                                        </p:tav>
                                      </p:tavLst>
                                    </p:anim>
                                  </p:childTnLst>
                                </p:cTn>
                              </p:par>
                              <p:par>
                                <p:cTn id="19" presetID="22" presetClass="entr" presetSubtype="4" fill="hold" grpId="0" nodeType="withEffect">
                                  <p:stCondLst>
                                    <p:cond delay="1012"/>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375"/>
                                        <p:tgtEl>
                                          <p:spTgt spid="13"/>
                                        </p:tgtEl>
                                      </p:cBhvr>
                                    </p:animEffect>
                                  </p:childTnLst>
                                </p:cTn>
                              </p:par>
                              <p:par>
                                <p:cTn id="22" presetID="42" presetClass="entr" presetSubtype="0" fill="hold" grpId="0" nodeType="withEffect">
                                  <p:stCondLst>
                                    <p:cond delay="10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87"/>
                                        <p:tgtEl>
                                          <p:spTgt spid="14"/>
                                        </p:tgtEl>
                                      </p:cBhvr>
                                    </p:animEffect>
                                    <p:anim calcmode="lin" valueType="num">
                                      <p:cBhvr additive="base">
                                        <p:cTn id="25" dur="687" decel="100000" fill="hold"/>
                                        <p:tgtEl>
                                          <p:spTgt spid="14"/>
                                        </p:tgtEl>
                                        <p:attrNameLst>
                                          <p:attrName>ppt_y</p:attrName>
                                        </p:attrNameLst>
                                      </p:cBhvr>
                                      <p:tavLst>
                                        <p:tav tm="0">
                                          <p:val>
                                            <p:strVal val="#ppt_y+0.035"/>
                                          </p:val>
                                        </p:tav>
                                        <p:tav tm="100000">
                                          <p:val>
                                            <p:strVal val="#ppt_y"/>
                                          </p:val>
                                        </p:tav>
                                      </p:tavLst>
                                    </p:anim>
                                  </p:childTnLst>
                                </p:cTn>
                              </p:par>
                              <p:par>
                                <p:cTn id="26" presetID="22" presetClass="entr" presetSubtype="4" fill="hold" grpId="0" nodeType="withEffect">
                                  <p:stCondLst>
                                    <p:cond delay="1215"/>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375"/>
                                        <p:tgtEl>
                                          <p:spTgt spid="15"/>
                                        </p:tgtEl>
                                      </p:cBhvr>
                                    </p:animEffect>
                                  </p:childTnLst>
                                </p:cTn>
                              </p:par>
                              <p:par>
                                <p:cTn id="29" presetID="42" presetClass="entr" presetSubtype="0" fill="hold" grpId="0" nodeType="withEffect">
                                  <p:stCondLst>
                                    <p:cond delay="1282"/>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687"/>
                                        <p:tgtEl>
                                          <p:spTgt spid="16"/>
                                        </p:tgtEl>
                                      </p:cBhvr>
                                    </p:animEffect>
                                    <p:anim calcmode="lin" valueType="num">
                                      <p:cBhvr additive="base">
                                        <p:cTn id="32" dur="687" decel="100000" fill="hold"/>
                                        <p:tgtEl>
                                          <p:spTgt spid="16"/>
                                        </p:tgtEl>
                                        <p:attrNameLst>
                                          <p:attrName>ppt_y</p:attrName>
                                        </p:attrNameLst>
                                      </p:cBhvr>
                                      <p:tavLst>
                                        <p:tav tm="0">
                                          <p:val>
                                            <p:strVal val="#ppt_y+0.035"/>
                                          </p:val>
                                        </p:tav>
                                        <p:tav tm="100000">
                                          <p:val>
                                            <p:strVal val="#ppt_y"/>
                                          </p:val>
                                        </p:tav>
                                      </p:tavLst>
                                    </p:anim>
                                  </p:childTnLst>
                                </p:cTn>
                              </p:par>
                              <p:par>
                                <p:cTn id="33" presetID="22" presetClass="entr" presetSubtype="4" fill="hold" grpId="0" nodeType="withEffect">
                                  <p:stCondLst>
                                    <p:cond delay="1417"/>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375"/>
                                        <p:tgtEl>
                                          <p:spTgt spid="17"/>
                                        </p:tgtEl>
                                      </p:cBhvr>
                                    </p:animEffect>
                                  </p:childTnLst>
                                </p:cTn>
                              </p:par>
                              <p:par>
                                <p:cTn id="36" presetID="42" presetClass="entr" presetSubtype="0" fill="hold" grpId="0" nodeType="withEffect">
                                  <p:stCondLst>
                                    <p:cond delay="1485"/>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87"/>
                                        <p:tgtEl>
                                          <p:spTgt spid="18"/>
                                        </p:tgtEl>
                                      </p:cBhvr>
                                    </p:animEffect>
                                    <p:anim calcmode="lin" valueType="num">
                                      <p:cBhvr additive="base">
                                        <p:cTn id="39" dur="687" decel="100000" fill="hold"/>
                                        <p:tgtEl>
                                          <p:spTgt spid="18"/>
                                        </p:tgtEl>
                                        <p:attrNameLst>
                                          <p:attrName>ppt_y</p:attrName>
                                        </p:attrNameLst>
                                      </p:cBhvr>
                                      <p:tavLst>
                                        <p:tav tm="0">
                                          <p:val>
                                            <p:strVal val="#ppt_y+0.035"/>
                                          </p:val>
                                        </p:tav>
                                        <p:tav tm="100000">
                                          <p:val>
                                            <p:strVal val="#ppt_y"/>
                                          </p:val>
                                        </p:tav>
                                      </p:tavLst>
                                    </p:anim>
                                  </p:childTnLst>
                                </p:cTn>
                              </p:par>
                              <p:par>
                                <p:cTn id="40" presetID="22" presetClass="entr" presetSubtype="4" fill="hold" grpId="0" nodeType="withEffect">
                                  <p:stCondLst>
                                    <p:cond delay="162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375"/>
                                        <p:tgtEl>
                                          <p:spTgt spid="19"/>
                                        </p:tgtEl>
                                      </p:cBhvr>
                                    </p:animEffect>
                                  </p:childTnLst>
                                </p:cTn>
                              </p:par>
                              <p:par>
                                <p:cTn id="43" presetID="42" presetClass="entr" presetSubtype="0" fill="hold" grpId="0" nodeType="withEffect">
                                  <p:stCondLst>
                                    <p:cond delay="1687"/>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687"/>
                                        <p:tgtEl>
                                          <p:spTgt spid="20"/>
                                        </p:tgtEl>
                                      </p:cBhvr>
                                    </p:animEffect>
                                    <p:anim calcmode="lin" valueType="num">
                                      <p:cBhvr additive="base">
                                        <p:cTn id="46" dur="687" decel="100000" fill="hold"/>
                                        <p:tgtEl>
                                          <p:spTgt spid="20"/>
                                        </p:tgtEl>
                                        <p:attrNameLst>
                                          <p:attrName>ppt_y</p:attrName>
                                        </p:attrNameLst>
                                      </p:cBhvr>
                                      <p:tavLst>
                                        <p:tav tm="0">
                                          <p:val>
                                            <p:strVal val="#ppt_y+0.035"/>
                                          </p:val>
                                        </p:tav>
                                        <p:tav tm="100000">
                                          <p:val>
                                            <p:strVal val="#ppt_y"/>
                                          </p:val>
                                        </p:tav>
                                      </p:tavLst>
                                    </p:anim>
                                  </p:childTnLst>
                                </p:cTn>
                              </p:par>
                              <p:par>
                                <p:cTn id="47" presetID="22" presetClass="entr" presetSubtype="4" fill="hold" grpId="0" nodeType="withEffect">
                                  <p:stCondLst>
                                    <p:cond delay="1822"/>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375"/>
                                        <p:tgtEl>
                                          <p:spTgt spid="21"/>
                                        </p:tgtEl>
                                      </p:cBhvr>
                                    </p:animEffect>
                                  </p:childTnLst>
                                </p:cTn>
                              </p:par>
                              <p:par>
                                <p:cTn id="50" presetID="42" presetClass="entr" presetSubtype="0" fill="hold" grpId="0" nodeType="withEffect">
                                  <p:stCondLst>
                                    <p:cond delay="189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87"/>
                                        <p:tgtEl>
                                          <p:spTgt spid="22"/>
                                        </p:tgtEl>
                                      </p:cBhvr>
                                    </p:animEffect>
                                    <p:anim calcmode="lin" valueType="num">
                                      <p:cBhvr additive="base">
                                        <p:cTn id="53" dur="687" decel="100000" fill="hold"/>
                                        <p:tgtEl>
                                          <p:spTgt spid="22"/>
                                        </p:tgtEl>
                                        <p:attrNameLst>
                                          <p:attrName>ppt_y</p:attrName>
                                        </p:attrNameLst>
                                      </p:cBhvr>
                                      <p:tavLst>
                                        <p:tav tm="0">
                                          <p:val>
                                            <p:strVal val="#ppt_y+0.035"/>
                                          </p:val>
                                        </p:tav>
                                        <p:tav tm="100000">
                                          <p:val>
                                            <p:strVal val="#ppt_y"/>
                                          </p:val>
                                        </p:tav>
                                      </p:tavLst>
                                    </p:anim>
                                  </p:childTnLst>
                                </p:cTn>
                              </p:par>
                              <p:par>
                                <p:cTn id="54" presetID="42" presetClass="path" presetSubtype="0" accel="50000" decel="50000" repeatCount="indefinite" autoRev="1" fill="hold" grpId="0" nodeType="withEffect">
                                  <p:stCondLst>
                                    <p:cond delay="200"/>
                                  </p:stCondLst>
                                  <p:childTnLst>
                                    <p:animMotion origin="layout" path="M 0 0 L 0 -0.012 E" pathEditMode="relative" ptsTypes="">
                                      <p:cBhvr>
                                        <p:cTn id="55" dur="2600" fill="hold"/>
                                        <p:tgtEl>
                                          <p:spTgt spid="5"/>
                                        </p:tgtEl>
                                        <p:attrNameLst>
                                          <p:attrName>ppt_x</p:attrName>
                                          <p:attrName>ppt_y</p:attrName>
                                        </p:attrNameLst>
                                      </p:cBhvr>
                                    </p:animMotion>
                                  </p:childTnLst>
                                </p:cTn>
                              </p:par>
                              <p:par>
                                <p:cTn id="56" presetID="8" presetClass="emph" presetSubtype="0" accel="50000" decel="50000" repeatCount="indefinite" autoRev="1" fill="hold" grpId="0" nodeType="withEffect">
                                  <p:stCondLst>
                                    <p:cond delay="0"/>
                                  </p:stCondLst>
                                  <p:childTnLst>
                                    <p:animRot by="300000">
                                      <p:cBhvr>
                                        <p:cTn id="57"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8" grpId="0" animBg="1"/>
      <p:bldP spid="20" grpId="0" animBg="1"/>
      <p:bldP spid="22"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4023360" y="1060704"/>
            <a:ext cx="11704320" cy="4096512"/>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4251960" y="4946904"/>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10500000">
            <a:off x="7223760" y="868680"/>
            <a:ext cx="5120640" cy="512064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0789920" y="73152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461772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2612506" cy="64008"/>
          </a:xfrm>
          <a:prstGeom prst="rect">
            <a:avLst/>
          </a:prstGeom>
          <a:solidFill>
            <a:srgbClr val="3FB98A">
              <a:alpha val="85000"/>
            </a:srgbClr>
          </a:solidFill>
          <a:ln>
            <a:noFill/>
          </a:ln>
        </p:spPr>
        <p:txBody>
          <a:bodyPr rtlCol="0" anchor="ctr"/>
          <a:lstStyle/>
          <a:p>
            <a:pPr algn="ctr"/>
          </a:p>
        </p:txBody>
      </p:sp>
      <p:sp>
        <p:nvSpPr>
          <p:cNvPr id="9" name="value"/>
          <p:cNvSpPr txBox="1"/>
          <p:nvPr/>
        </p:nvSpPr>
        <p:spPr>
          <a:xfrm>
            <a:off x="822960" y="914400"/>
            <a:ext cx="6583680" cy="3566160"/>
          </a:xfrm>
          <a:prstGeom prst="rect">
            <a:avLst/>
          </a:prstGeom>
          <a:noFill/>
        </p:spPr>
        <p:txBody>
          <a:bodyPr wrap="square" anchor="b" lIns="0" rIns="0" tIns="0" bIns="0">
            <a:noAutofit/>
          </a:bodyPr>
          <a:lstStyle/>
          <a:p>
            <a:pPr>
              <a:lnSpc>
                <a:spcPct val="90000"/>
              </a:lnSpc>
            </a:pPr>
            <a:r>
              <a:rPr sz="10800" b="1">
                <a:solidFill>
                  <a:srgbClr val="ECF8EF"/>
                </a:solidFill>
                <a:latin typeface="Unbounded"/>
              </a:rPr>
              <a:t>1</a:t>
            </a:r>
            <a:r>
              <a:rPr sz="7500" b="1">
                <a:solidFill>
                  <a:srgbClr val="B6F36B"/>
                </a:solidFill>
                <a:latin typeface="Unbounded"/>
              </a:rPr>
              <a:t> in 40</a:t>
            </a:r>
          </a:p>
        </p:txBody>
      </p:sp>
      <p:sp>
        <p:nvSpPr>
          <p:cNvPr id="10" name="label"/>
          <p:cNvSpPr txBox="1"/>
          <p:nvPr/>
        </p:nvSpPr>
        <p:spPr>
          <a:xfrm>
            <a:off x="822960" y="4846320"/>
            <a:ext cx="6217920" cy="685800"/>
          </a:xfrm>
          <a:prstGeom prst="rect">
            <a:avLst/>
          </a:prstGeom>
          <a:noFill/>
        </p:spPr>
        <p:txBody>
          <a:bodyPr wrap="square" anchor="t" lIns="0" rIns="0" tIns="0" bIns="0">
            <a:noAutofit/>
          </a:bodyPr>
          <a:lstStyle/>
          <a:p>
            <a:pPr algn="l">
              <a:lnSpc>
                <a:spcPct val="102000"/>
              </a:lnSpc>
            </a:pPr>
            <a:r>
              <a:rPr sz="2000" b="1">
                <a:solidFill>
                  <a:srgbClr val="ECF8EF"/>
                </a:solidFill>
                <a:latin typeface="Unbounded"/>
              </a:rPr>
              <a:t>trading days is a 'bad day' at our main tail level of 2.5%</a:t>
            </a:r>
          </a:p>
        </p:txBody>
      </p:sp>
      <p:sp>
        <p:nvSpPr>
          <p:cNvPr id="11" name="note"/>
          <p:cNvSpPr txBox="1"/>
          <p:nvPr/>
        </p:nvSpPr>
        <p:spPr>
          <a:xfrm>
            <a:off x="822960" y="5532120"/>
            <a:ext cx="6217920" cy="914400"/>
          </a:xfrm>
          <a:prstGeom prst="rect">
            <a:avLst/>
          </a:prstGeom>
          <a:noFill/>
        </p:spPr>
        <p:txBody>
          <a:bodyPr wrap="square" anchor="t" lIns="0" rIns="0" tIns="0" bIns="0">
            <a:noAutofit/>
          </a:bodyPr>
          <a:lstStyle/>
          <a:p>
            <a:pPr algn="l">
              <a:lnSpc>
                <a:spcPct val="125000"/>
              </a:lnSpc>
            </a:pPr>
            <a:r>
              <a:rPr sz="1500" b="0">
                <a:solidFill>
                  <a:srgbClr val="9CC5B0"/>
                </a:solidFill>
                <a:latin typeface="Unbounded"/>
              </a:rPr>
              <a:t>Basel FRTB market-risk standard: Expected Shortfall at the 97.5% confidence level.</a:t>
            </a:r>
          </a:p>
        </p:txBody>
      </p:sp>
      <p:sp>
        <p:nvSpPr>
          <p:cNvPr id="12" name="context"/>
          <p:cNvSpPr txBox="1"/>
          <p:nvPr/>
        </p:nvSpPr>
        <p:spPr>
          <a:xfrm>
            <a:off x="8138160" y="2514600"/>
            <a:ext cx="3291840" cy="1828800"/>
          </a:xfrm>
          <a:prstGeom prst="rect">
            <a:avLst/>
          </a:prstGeom>
          <a:noFill/>
        </p:spPr>
        <p:txBody>
          <a:bodyPr wrap="square" anchor="ctr" lIns="0" rIns="0" tIns="0" bIns="0">
            <a:noAutofit/>
          </a:bodyPr>
          <a:lstStyle/>
          <a:p>
            <a:pPr algn="ctr">
              <a:lnSpc>
                <a:spcPct val="125000"/>
              </a:lnSpc>
            </a:pPr>
            <a:r>
              <a:rPr sz="1800" b="0">
                <a:solidFill>
                  <a:srgbClr val="ECF8EF"/>
                </a:solidFill>
                <a:latin typeface="Unbounded"/>
              </a:rPr>
              <a:t>alpha = 2.5%</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1000"/>
                                        <p:tgtEl>
                                          <p:spTgt spid="9"/>
                                        </p:tgtEl>
                                      </p:cBhvr>
                                    </p:animEffect>
                                    <p:anim calcmode="lin" valueType="num">
                                      <p:cBhvr additive="base">
                                        <p:cTn id="8" dur="1000"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1000"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81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750"/>
                                        <p:tgtEl>
                                          <p:spTgt spid="10"/>
                                        </p:tgtEl>
                                      </p:cBhvr>
                                    </p:animEffect>
                                    <p:anim calcmode="lin" valueType="num">
                                      <p:cBhvr additive="base">
                                        <p:cTn id="13" dur="750" decel="100000" fill="hold"/>
                                        <p:tgtEl>
                                          <p:spTgt spid="10"/>
                                        </p:tgtEl>
                                        <p:attrNameLst>
                                          <p:attrName>ppt_y</p:attrName>
                                        </p:attrNameLst>
                                      </p:cBhvr>
                                      <p:tavLst>
                                        <p:tav tm="0">
                                          <p:val>
                                            <p:strVal val="#ppt_y+0.035"/>
                                          </p:val>
                                        </p:tav>
                                        <p:tav tm="100000">
                                          <p:val>
                                            <p:strVal val="#ppt_y"/>
                                          </p:val>
                                        </p:tav>
                                      </p:tavLst>
                                    </p:anim>
                                  </p:childTnLst>
                                </p:cTn>
                              </p:par>
                              <p:par>
                                <p:cTn id="14" presetID="10"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childTnLst>
                                </p:cTn>
                              </p:par>
                              <p:par>
                                <p:cTn id="17" presetID="10" presetClass="entr" presetSubtype="0" fill="hold" grpId="0" nodeType="withEffect">
                                  <p:stCondLst>
                                    <p:cond delay="162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1000"/>
                                        <p:tgtEl>
                                          <p:spTgt spid="12"/>
                                        </p:tgtEl>
                                      </p:cBhvr>
                                    </p:animEffect>
                                  </p:childTnLst>
                                </p:cTn>
                              </p:par>
                              <p:par>
                                <p:cTn id="20" presetID="42" presetClass="path" presetSubtype="0" accel="50000" decel="50000" repeatCount="indefinite" autoRev="1" fill="hold" grpId="0" nodeType="withEffect">
                                  <p:stCondLst>
                                    <p:cond delay="200"/>
                                  </p:stCondLst>
                                  <p:childTnLst>
                                    <p:animMotion origin="layout" path="M 0 0 L 0 -0.012 E" pathEditMode="relative" ptsTypes="">
                                      <p:cBhvr>
                                        <p:cTn id="21" dur="2600" fill="hold"/>
                                        <p:tgtEl>
                                          <p:spTgt spid="5"/>
                                        </p:tgtEl>
                                        <p:attrNameLst>
                                          <p:attrName>ppt_x</p:attrName>
                                          <p:attrName>ppt_y</p:attrName>
                                        </p:attrNameLst>
                                      </p:cBhvr>
                                    </p:animMotion>
                                  </p:childTnLst>
                                </p:cTn>
                              </p:par>
                              <p:par>
                                <p:cTn id="22" presetID="8" presetClass="emph" presetSubtype="0" accel="50000" decel="50000" repeatCount="indefinite" autoRev="1" fill="hold" grpId="0" nodeType="withEffect">
                                  <p:stCondLst>
                                    <p:cond delay="0"/>
                                  </p:stCondLst>
                                  <p:childTnLst>
                                    <p:animRot by="300000">
                                      <p:cBhvr>
                                        <p:cTn id="23"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1260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3047924"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How one forecast is made and checked</a:t>
            </a:r>
          </a:p>
        </p:txBody>
      </p:sp>
      <p:pic>
        <p:nvPicPr>
          <p:cNvPr id="10" name="figure" descr="flow_daily.png"/>
          <p:cNvPicPr>
            <a:picLocks noChangeAspect="1"/>
          </p:cNvPicPr>
          <p:nvPr/>
        </p:nvPicPr>
        <p:blipFill>
          <a:blip r:embed="rId2"/>
          <a:srcRect l="7" r="7"/>
          <a:stretch>
            <a:fillRect/>
          </a:stretch>
        </p:blipFill>
        <p:spPr>
          <a:xfrm>
            <a:off x="822960" y="1645920"/>
            <a:ext cx="10545775" cy="3528195"/>
          </a:xfrm>
          <a:prstGeom prst="roundRect">
            <a:avLst>
              <a:gd name="adj" fmla="val 1555"/>
            </a:avLst>
          </a:prstGeom>
        </p:spPr>
      </p:pic>
      <p:sp>
        <p:nvSpPr>
          <p:cNvPr id="11" name="caption"/>
          <p:cNvSpPr txBox="1"/>
          <p:nvPr/>
        </p:nvSpPr>
        <p:spPr>
          <a:xfrm>
            <a:off x="822960" y="5283843"/>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This cycle runs every trading day, for every stock, January 2023 to September 2026.</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1692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3483341"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02</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Grading a forecast</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How do you know one forecast is better than another?</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5715000" y="-2148840"/>
            <a:ext cx="10972800" cy="3840480"/>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3794760" y="5129784"/>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355080"/>
            <a:ext cx="12191695" cy="502920"/>
          </a:xfrm>
          <a:prstGeom prst="rect">
            <a:avLst/>
          </a:prstGeom>
          <a:solidFill>
            <a:srgbClr val="15372E">
              <a:alpha val="60000"/>
            </a:srgbClr>
          </a:solidFill>
          <a:ln>
            <a:noFill/>
          </a:ln>
        </p:spPr>
        <p:txBody>
          <a:bodyPr rtlCol="0" anchor="ctr"/>
          <a:lstStyle/>
          <a:p>
            <a:pPr algn="ctr"/>
          </a:p>
        </p:txBody>
      </p:sp>
      <p:sp>
        <p:nvSpPr>
          <p:cNvPr id="4" name="!!ring"/>
          <p:cNvSpPr/>
          <p:nvPr/>
        </p:nvSpPr>
        <p:spPr>
          <a:xfrm rot="16800000">
            <a:off x="9966960" y="-1463040"/>
            <a:ext cx="3108960" cy="31089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0981944" y="502920"/>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916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3918759"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How forecasts are scored</a:t>
            </a:r>
          </a:p>
        </p:txBody>
      </p:sp>
      <p:sp>
        <p:nvSpPr>
          <p:cNvPr id="10" name="card0"/>
          <p:cNvSpPr/>
          <p:nvPr/>
        </p:nvSpPr>
        <p:spPr>
          <a:xfrm>
            <a:off x="822960"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01</a:t>
            </a:r>
          </a:p>
          <a:p>
            <a:pPr algn="l">
              <a:lnSpc>
                <a:spcPct val="105000"/>
              </a:lnSpc>
              <a:spcAft>
                <a:spcPts val="1000"/>
              </a:spcAft>
            </a:pPr>
            <a:r>
              <a:rPr sz="1500" b="1">
                <a:solidFill>
                  <a:srgbClr val="ECF8EF"/>
                </a:solidFill>
                <a:latin typeface="Unbounded"/>
              </a:rPr>
              <a:t>FZ0 loss</a:t>
            </a:r>
          </a:p>
          <a:p>
            <a:pPr algn="l">
              <a:lnSpc>
                <a:spcPct val="125000"/>
              </a:lnSpc>
            </a:pPr>
            <a:r>
              <a:rPr sz="1400" b="0">
                <a:solidFill>
                  <a:srgbClr val="9CC5B0"/>
                </a:solidFill>
                <a:latin typeface="Unbounded"/>
              </a:rPr>
              <a:t>One score for a VaR and ES pair together. Lower is better. It punishes forecasts that are too timid and too alarmist.</a:t>
            </a:r>
          </a:p>
        </p:txBody>
      </p:sp>
      <p:sp>
        <p:nvSpPr>
          <p:cNvPr id="11" name="card1"/>
          <p:cNvSpPr/>
          <p:nvPr/>
        </p:nvSpPr>
        <p:spPr>
          <a:xfrm>
            <a:off x="3527984"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02</a:t>
            </a:r>
          </a:p>
          <a:p>
            <a:pPr algn="l">
              <a:lnSpc>
                <a:spcPct val="105000"/>
              </a:lnSpc>
              <a:spcAft>
                <a:spcPts val="1000"/>
              </a:spcAft>
            </a:pPr>
            <a:r>
              <a:rPr sz="1500" b="1">
                <a:solidFill>
                  <a:srgbClr val="ECF8EF"/>
                </a:solidFill>
                <a:latin typeface="Unbounded"/>
              </a:rPr>
              <a:t>Out-of-sample</a:t>
            </a:r>
          </a:p>
          <a:p>
            <a:pPr algn="l">
              <a:lnSpc>
                <a:spcPct val="125000"/>
              </a:lnSpc>
            </a:pPr>
            <a:r>
              <a:rPr sz="1400" b="0">
                <a:solidFill>
                  <a:srgbClr val="9CC5B0"/>
                </a:solidFill>
                <a:latin typeface="Unbounded"/>
              </a:rPr>
              <a:t>Every score uses days the model never saw while being built. That is the only honest test.</a:t>
            </a:r>
          </a:p>
        </p:txBody>
      </p:sp>
      <p:sp>
        <p:nvSpPr>
          <p:cNvPr id="12" name="card2"/>
          <p:cNvSpPr/>
          <p:nvPr/>
        </p:nvSpPr>
        <p:spPr>
          <a:xfrm>
            <a:off x="6233008"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03</a:t>
            </a:r>
          </a:p>
          <a:p>
            <a:pPr algn="l">
              <a:lnSpc>
                <a:spcPct val="105000"/>
              </a:lnSpc>
              <a:spcAft>
                <a:spcPts val="1000"/>
              </a:spcAft>
            </a:pPr>
            <a:r>
              <a:rPr sz="1500" b="1">
                <a:solidFill>
                  <a:srgbClr val="ECF8EF"/>
                </a:solidFill>
                <a:latin typeface="Unbounded"/>
              </a:rPr>
              <a:t>Walk-forward</a:t>
            </a:r>
          </a:p>
          <a:p>
            <a:pPr algn="l">
              <a:lnSpc>
                <a:spcPct val="125000"/>
              </a:lnSpc>
            </a:pPr>
            <a:r>
              <a:rPr sz="1400" b="0">
                <a:solidFill>
                  <a:srgbClr val="9CC5B0"/>
                </a:solidFill>
                <a:latin typeface="Unbounded"/>
              </a:rPr>
              <a:t>Retrain each year on the past only, then forecast the next year, exactly as in real life.</a:t>
            </a:r>
          </a:p>
        </p:txBody>
      </p:sp>
      <p:sp>
        <p:nvSpPr>
          <p:cNvPr id="13" name="card3"/>
          <p:cNvSpPr/>
          <p:nvPr/>
        </p:nvSpPr>
        <p:spPr>
          <a:xfrm>
            <a:off x="8938031"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04</a:t>
            </a:r>
          </a:p>
          <a:p>
            <a:pPr algn="l">
              <a:lnSpc>
                <a:spcPct val="105000"/>
              </a:lnSpc>
              <a:spcAft>
                <a:spcPts val="1000"/>
              </a:spcAft>
            </a:pPr>
            <a:r>
              <a:rPr sz="1500" b="1">
                <a:solidFill>
                  <a:srgbClr val="ECF8EF"/>
                </a:solidFill>
                <a:latin typeface="Unbounded"/>
              </a:rPr>
              <a:t>Backtests</a:t>
            </a:r>
          </a:p>
          <a:p>
            <a:pPr algn="l">
              <a:lnSpc>
                <a:spcPct val="125000"/>
              </a:lnSpc>
            </a:pPr>
            <a:r>
              <a:rPr sz="1400" b="0">
                <a:solidFill>
                  <a:srgbClr val="9CC5B0"/>
                </a:solidFill>
                <a:latin typeface="Unbounded"/>
              </a:rPr>
              <a:t>Count the days losses crossed VaR, check they do not cluster, and check ES was deep enough.</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entr" presetSubtype="0" fill="hold" grpId="0" nodeType="withEffect">
                                  <p:stCondLst>
                                    <p:cond delay="1012"/>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75"/>
                                        <p:tgtEl>
                                          <p:spTgt spid="11"/>
                                        </p:tgtEl>
                                      </p:cBhvr>
                                    </p:animEffect>
                                    <p:anim calcmode="lin" valueType="num">
                                      <p:cBhvr additive="base">
                                        <p:cTn id="16" dur="875" decel="100000" fill="hold"/>
                                        <p:tgtEl>
                                          <p:spTgt spid="11"/>
                                        </p:tgtEl>
                                        <p:attrNameLst>
                                          <p:attrName>ppt_y</p:attrName>
                                        </p:attrNameLst>
                                      </p:cBhvr>
                                      <p:tavLst>
                                        <p:tav tm="0">
                                          <p:val>
                                            <p:strVal val="#ppt_y+0.035"/>
                                          </p:val>
                                        </p:tav>
                                        <p:tav tm="100000">
                                          <p:val>
                                            <p:strVal val="#ppt_y"/>
                                          </p:val>
                                        </p:tav>
                                      </p:tavLst>
                                    </p:anim>
                                  </p:childTnLst>
                                </p:cTn>
                              </p:par>
                              <p:par>
                                <p:cTn id="17" presetID="42" presetClass="entr" presetSubtype="0" fill="hold" grpId="0" nodeType="withEffect">
                                  <p:stCondLst>
                                    <p:cond delay="135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875"/>
                                        <p:tgtEl>
                                          <p:spTgt spid="12"/>
                                        </p:tgtEl>
                                      </p:cBhvr>
                                    </p:animEffect>
                                    <p:anim calcmode="lin" valueType="num">
                                      <p:cBhvr additive="base">
                                        <p:cTn id="20" dur="875" decel="100000" fill="hold"/>
                                        <p:tgtEl>
                                          <p:spTgt spid="12"/>
                                        </p:tgtEl>
                                        <p:attrNameLst>
                                          <p:attrName>ppt_y</p:attrName>
                                        </p:attrNameLst>
                                      </p:cBhvr>
                                      <p:tavLst>
                                        <p:tav tm="0">
                                          <p:val>
                                            <p:strVal val="#ppt_y+0.035"/>
                                          </p:val>
                                        </p:tav>
                                        <p:tav tm="100000">
                                          <p:val>
                                            <p:strVal val="#ppt_y"/>
                                          </p:val>
                                        </p:tav>
                                      </p:tavLst>
                                    </p:anim>
                                  </p:childTnLst>
                                </p:cTn>
                              </p:par>
                              <p:par>
                                <p:cTn id="21" presetID="42" presetClass="entr" presetSubtype="0" fill="hold" grpId="0" nodeType="withEffect">
                                  <p:stCondLst>
                                    <p:cond delay="1687"/>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875"/>
                                        <p:tgtEl>
                                          <p:spTgt spid="13"/>
                                        </p:tgtEl>
                                      </p:cBhvr>
                                    </p:animEffect>
                                    <p:anim calcmode="lin" valueType="num">
                                      <p:cBhvr additive="base">
                                        <p:cTn id="24" dur="875" decel="100000" fill="hold"/>
                                        <p:tgtEl>
                                          <p:spTgt spid="13"/>
                                        </p:tgtEl>
                                        <p:attrNameLst>
                                          <p:attrName>ppt_y</p:attrName>
                                        </p:attrNameLst>
                                      </p:cBhvr>
                                      <p:tavLst>
                                        <p:tav tm="0">
                                          <p:val>
                                            <p:strVal val="#ppt_y+0.035"/>
                                          </p:val>
                                        </p:tav>
                                        <p:tav tm="100000">
                                          <p:val>
                                            <p:strVal val="#ppt_y"/>
                                          </p:val>
                                        </p:tav>
                                      </p:tavLst>
                                    </p:anim>
                                  </p:childTnLst>
                                </p:cTn>
                              </p:par>
                              <p:par>
                                <p:cTn id="25" presetID="42" presetClass="path" presetSubtype="0" accel="50000" decel="50000" repeatCount="indefinite" autoRev="1" fill="hold" grpId="0" nodeType="withEffect">
                                  <p:stCondLst>
                                    <p:cond delay="200"/>
                                  </p:stCondLst>
                                  <p:childTnLst>
                                    <p:animMotion origin="layout" path="M 0 0 L 0 -0.012 E" pathEditMode="relative" ptsTypes="">
                                      <p:cBhvr>
                                        <p:cTn id="26" dur="2600" fill="hold"/>
                                        <p:tgtEl>
                                          <p:spTgt spid="5"/>
                                        </p:tgtEl>
                                        <p:attrNameLst>
                                          <p:attrName>ppt_x</p:attrName>
                                          <p:attrName>ppt_y</p:attrName>
                                        </p:attrNameLst>
                                      </p:cBhvr>
                                    </p:animMotion>
                                  </p:childTnLst>
                                </p:cTn>
                              </p:par>
                              <p:par>
                                <p:cTn id="27" presetID="8" presetClass="emph" presetSubtype="0" accel="50000" decel="50000" repeatCount="indefinite" autoRev="1" fill="hold" grpId="0" nodeType="withEffect">
                                  <p:stCondLst>
                                    <p:cond delay="0"/>
                                  </p:stCondLst>
                                  <p:childTnLst>
                                    <p:animRot by="300000">
                                      <p:cBhvr>
                                        <p:cTn id="28"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6675120" y="-2432304"/>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4297680" y="539496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71616" y="2743200"/>
            <a:ext cx="27432" cy="3520440"/>
          </a:xfrm>
          <a:prstGeom prst="rect">
            <a:avLst/>
          </a:prstGeom>
          <a:solidFill>
            <a:srgbClr val="15372E">
              <a:alpha val="90000"/>
            </a:srgbClr>
          </a:solidFill>
          <a:ln>
            <a:noFill/>
          </a:ln>
        </p:spPr>
        <p:txBody>
          <a:bodyPr rtlCol="0" anchor="ctr"/>
          <a:lstStyle/>
          <a:p>
            <a:pPr algn="ctr"/>
          </a:p>
        </p:txBody>
      </p:sp>
      <p:sp>
        <p:nvSpPr>
          <p:cNvPr id="4" name="!!ring"/>
          <p:cNvSpPr/>
          <p:nvPr/>
        </p:nvSpPr>
        <p:spPr>
          <a:xfrm rot="1740000">
            <a:off x="10698480" y="484632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92256" y="548640"/>
            <a:ext cx="704088" cy="32004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4354177"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Is a difference real or just luck?</a:t>
            </a:r>
          </a:p>
        </p:txBody>
      </p:sp>
      <p:sp>
        <p:nvSpPr>
          <p:cNvPr id="10" name="intro"/>
          <p:cNvSpPr txBox="1"/>
          <p:nvPr/>
        </p:nvSpPr>
        <p:spPr>
          <a:xfrm>
            <a:off x="822960" y="1874520"/>
            <a:ext cx="10515600" cy="777240"/>
          </a:xfrm>
          <a:prstGeom prst="rect">
            <a:avLst/>
          </a:prstGeom>
          <a:noFill/>
        </p:spPr>
        <p:txBody>
          <a:bodyPr wrap="square" anchor="t" lIns="0" rIns="0" tIns="0" bIns="0">
            <a:noAutofit/>
          </a:bodyPr>
          <a:lstStyle/>
          <a:p>
            <a:pPr algn="l">
              <a:lnSpc>
                <a:spcPct val="125000"/>
              </a:lnSpc>
            </a:pPr>
            <a:r>
              <a:rPr sz="1700" b="0">
                <a:solidFill>
                  <a:srgbClr val="9CC5B0"/>
                </a:solidFill>
                <a:latin typeface="Unbounded"/>
              </a:rPr>
              <a:t>Two methods will never score exactly the same. Statistics tells us whether a gap is real or could easily be chance.</a:t>
            </a:r>
          </a:p>
        </p:txBody>
      </p:sp>
      <p:sp>
        <p:nvSpPr>
          <p:cNvPr id="11" name="mark0"/>
          <p:cNvSpPr/>
          <p:nvPr/>
        </p:nvSpPr>
        <p:spPr>
          <a:xfrm>
            <a:off x="822960" y="2846070"/>
            <a:ext cx="45720" cy="171450"/>
          </a:xfrm>
          <a:prstGeom prst="rect">
            <a:avLst/>
          </a:prstGeom>
          <a:solidFill>
            <a:srgbClr val="B6F36B"/>
          </a:solidFill>
          <a:ln>
            <a:noFill/>
          </a:ln>
        </p:spPr>
        <p:txBody>
          <a:bodyPr rtlCol="0" anchor="ctr"/>
          <a:lstStyle/>
          <a:p>
            <a:pPr algn="ctr"/>
          </a:p>
        </p:txBody>
      </p:sp>
      <p:sp>
        <p:nvSpPr>
          <p:cNvPr id="12" name="point0"/>
          <p:cNvSpPr txBox="1"/>
          <p:nvPr/>
        </p:nvSpPr>
        <p:spPr>
          <a:xfrm>
            <a:off x="1051560" y="278892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Diebold-Mariano (DM) test: compares two methods' daily scores. Here a negative value means the first method is better.</a:t>
            </a:r>
          </a:p>
        </p:txBody>
      </p:sp>
      <p:sp>
        <p:nvSpPr>
          <p:cNvPr id="13" name="mark1"/>
          <p:cNvSpPr/>
          <p:nvPr/>
        </p:nvSpPr>
        <p:spPr>
          <a:xfrm>
            <a:off x="822960" y="4019550"/>
            <a:ext cx="45720" cy="171450"/>
          </a:xfrm>
          <a:prstGeom prst="rect">
            <a:avLst/>
          </a:prstGeom>
          <a:solidFill>
            <a:srgbClr val="B6F36B"/>
          </a:solidFill>
          <a:ln>
            <a:noFill/>
          </a:ln>
        </p:spPr>
        <p:txBody>
          <a:bodyPr rtlCol="0" anchor="ctr"/>
          <a:lstStyle/>
          <a:p>
            <a:pPr algn="ctr"/>
          </a:p>
        </p:txBody>
      </p:sp>
      <p:sp>
        <p:nvSpPr>
          <p:cNvPr id="14" name="point1"/>
          <p:cNvSpPr txBox="1"/>
          <p:nvPr/>
        </p:nvSpPr>
        <p:spPr>
          <a:xfrm>
            <a:off x="1051560" y="396240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p-value: how likely a gap this big is if there were no real difference. Below 0.05 counts as significant.</a:t>
            </a:r>
          </a:p>
        </p:txBody>
      </p:sp>
      <p:sp>
        <p:nvSpPr>
          <p:cNvPr id="15" name="mark2"/>
          <p:cNvSpPr/>
          <p:nvPr/>
        </p:nvSpPr>
        <p:spPr>
          <a:xfrm>
            <a:off x="822960" y="5193030"/>
            <a:ext cx="45720" cy="171450"/>
          </a:xfrm>
          <a:prstGeom prst="rect">
            <a:avLst/>
          </a:prstGeom>
          <a:solidFill>
            <a:srgbClr val="B6F36B"/>
          </a:solidFill>
          <a:ln>
            <a:noFill/>
          </a:ln>
        </p:spPr>
        <p:txBody>
          <a:bodyPr rtlCol="0" anchor="ctr"/>
          <a:lstStyle/>
          <a:p>
            <a:pPr algn="ctr"/>
          </a:p>
        </p:txBody>
      </p:sp>
      <p:sp>
        <p:nvSpPr>
          <p:cNvPr id="16" name="point2"/>
          <p:cNvSpPr txBox="1"/>
          <p:nvPr/>
        </p:nvSpPr>
        <p:spPr>
          <a:xfrm>
            <a:off x="1051560" y="513588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Holm correction: testing four ideas at once makes lucky passes likelier, so the bar is raised.</a:t>
            </a:r>
          </a:p>
        </p:txBody>
      </p:sp>
      <p:sp>
        <p:nvSpPr>
          <p:cNvPr id="17" name="mark3"/>
          <p:cNvSpPr/>
          <p:nvPr/>
        </p:nvSpPr>
        <p:spPr>
          <a:xfrm>
            <a:off x="6263640" y="2846070"/>
            <a:ext cx="45720" cy="171450"/>
          </a:xfrm>
          <a:prstGeom prst="rect">
            <a:avLst/>
          </a:prstGeom>
          <a:solidFill>
            <a:srgbClr val="3FB98A"/>
          </a:solidFill>
          <a:ln>
            <a:noFill/>
          </a:ln>
        </p:spPr>
        <p:txBody>
          <a:bodyPr rtlCol="0" anchor="ctr"/>
          <a:lstStyle/>
          <a:p>
            <a:pPr algn="ctr"/>
          </a:p>
        </p:txBody>
      </p:sp>
      <p:sp>
        <p:nvSpPr>
          <p:cNvPr id="18" name="point3"/>
          <p:cNvSpPr txBox="1"/>
          <p:nvPr/>
        </p:nvSpPr>
        <p:spPr>
          <a:xfrm>
            <a:off x="6492240" y="278892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Model Confidence Set: a shortlist of methods that cannot be told apart from the best.</a:t>
            </a:r>
          </a:p>
        </p:txBody>
      </p:sp>
      <p:sp>
        <p:nvSpPr>
          <p:cNvPr id="19" name="mark4"/>
          <p:cNvSpPr/>
          <p:nvPr/>
        </p:nvSpPr>
        <p:spPr>
          <a:xfrm>
            <a:off x="6263640" y="4019550"/>
            <a:ext cx="45720" cy="171450"/>
          </a:xfrm>
          <a:prstGeom prst="rect">
            <a:avLst/>
          </a:prstGeom>
          <a:solidFill>
            <a:srgbClr val="3FB98A"/>
          </a:solidFill>
          <a:ln>
            <a:noFill/>
          </a:ln>
        </p:spPr>
        <p:txBody>
          <a:bodyPr rtlCol="0" anchor="ctr"/>
          <a:lstStyle/>
          <a:p>
            <a:pPr algn="ctr"/>
          </a:p>
        </p:txBody>
      </p:sp>
      <p:sp>
        <p:nvSpPr>
          <p:cNvPr id="20" name="point4"/>
          <p:cNvSpPr txBox="1"/>
          <p:nvPr/>
        </p:nvSpPr>
        <p:spPr>
          <a:xfrm>
            <a:off x="6492240" y="396240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Statistical power: whether there is enough data to detect a real gap at all.</a:t>
            </a:r>
          </a:p>
        </p:txBody>
      </p:sp>
      <p:sp>
        <p:nvSpPr>
          <p:cNvPr id="21" name="mark5"/>
          <p:cNvSpPr/>
          <p:nvPr/>
        </p:nvSpPr>
        <p:spPr>
          <a:xfrm>
            <a:off x="6263640" y="5193030"/>
            <a:ext cx="45720" cy="171450"/>
          </a:xfrm>
          <a:prstGeom prst="rect">
            <a:avLst/>
          </a:prstGeom>
          <a:solidFill>
            <a:srgbClr val="3FB98A"/>
          </a:solidFill>
          <a:ln>
            <a:noFill/>
          </a:ln>
        </p:spPr>
        <p:txBody>
          <a:bodyPr rtlCol="0" anchor="ctr"/>
          <a:lstStyle/>
          <a:p>
            <a:pPr algn="ctr"/>
          </a:p>
        </p:txBody>
      </p:sp>
      <p:sp>
        <p:nvSpPr>
          <p:cNvPr id="22" name="point5"/>
          <p:cNvSpPr txBox="1"/>
          <p:nvPr/>
        </p:nvSpPr>
        <p:spPr>
          <a:xfrm>
            <a:off x="6492240" y="5135880"/>
            <a:ext cx="4572000" cy="1100328"/>
          </a:xfrm>
          <a:prstGeom prst="rect">
            <a:avLst/>
          </a:prstGeom>
          <a:noFill/>
        </p:spPr>
        <p:txBody>
          <a:bodyPr wrap="square" anchor="t" lIns="0" rIns="0" tIns="0" bIns="0">
            <a:noAutofit/>
          </a:bodyPr>
          <a:lstStyle/>
          <a:p>
            <a:pPr algn="l">
              <a:lnSpc>
                <a:spcPct val="120000"/>
              </a:lnSpc>
            </a:pPr>
            <a:r>
              <a:rPr sz="1500" b="0">
                <a:solidFill>
                  <a:srgbClr val="ECF8EF"/>
                </a:solidFill>
                <a:latin typeface="Unbounded"/>
              </a:rPr>
              <a:t>Pre-registration: publishing hypotheses before seeing test data, so results cannot be tuned afterwards.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10" presetClass="entr" presetSubtype="0" fill="hold" grpId="0" nodeType="withEffect">
                                  <p:stCondLst>
                                    <p:cond delay="54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childTnLst>
                                </p:cTn>
                              </p:par>
                              <p:par>
                                <p:cTn id="12" presetID="22" presetClass="entr" presetSubtype="4" fill="hold" grpId="0" nodeType="withEffect">
                                  <p:stCondLst>
                                    <p:cond delay="81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375"/>
                                        <p:tgtEl>
                                          <p:spTgt spid="11"/>
                                        </p:tgtEl>
                                      </p:cBhvr>
                                    </p:animEffect>
                                  </p:childTnLst>
                                </p:cTn>
                              </p:par>
                              <p:par>
                                <p:cTn id="15" presetID="42" presetClass="entr" presetSubtype="0" fill="hold" grpId="0" nodeType="withEffect">
                                  <p:stCondLst>
                                    <p:cond delay="877"/>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87"/>
                                        <p:tgtEl>
                                          <p:spTgt spid="12"/>
                                        </p:tgtEl>
                                      </p:cBhvr>
                                    </p:animEffect>
                                    <p:anim calcmode="lin" valueType="num">
                                      <p:cBhvr additive="base">
                                        <p:cTn id="18" dur="687" decel="100000" fill="hold"/>
                                        <p:tgtEl>
                                          <p:spTgt spid="12"/>
                                        </p:tgtEl>
                                        <p:attrNameLst>
                                          <p:attrName>ppt_y</p:attrName>
                                        </p:attrNameLst>
                                      </p:cBhvr>
                                      <p:tavLst>
                                        <p:tav tm="0">
                                          <p:val>
                                            <p:strVal val="#ppt_y+0.035"/>
                                          </p:val>
                                        </p:tav>
                                        <p:tav tm="100000">
                                          <p:val>
                                            <p:strVal val="#ppt_y"/>
                                          </p:val>
                                        </p:tav>
                                      </p:tavLst>
                                    </p:anim>
                                  </p:childTnLst>
                                </p:cTn>
                              </p:par>
                              <p:par>
                                <p:cTn id="19" presetID="22" presetClass="entr" presetSubtype="4" fill="hold" grpId="0" nodeType="withEffect">
                                  <p:stCondLst>
                                    <p:cond delay="1012"/>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375"/>
                                        <p:tgtEl>
                                          <p:spTgt spid="13"/>
                                        </p:tgtEl>
                                      </p:cBhvr>
                                    </p:animEffect>
                                  </p:childTnLst>
                                </p:cTn>
                              </p:par>
                              <p:par>
                                <p:cTn id="22" presetID="42" presetClass="entr" presetSubtype="0" fill="hold" grpId="0" nodeType="withEffect">
                                  <p:stCondLst>
                                    <p:cond delay="10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87"/>
                                        <p:tgtEl>
                                          <p:spTgt spid="14"/>
                                        </p:tgtEl>
                                      </p:cBhvr>
                                    </p:animEffect>
                                    <p:anim calcmode="lin" valueType="num">
                                      <p:cBhvr additive="base">
                                        <p:cTn id="25" dur="687" decel="100000" fill="hold"/>
                                        <p:tgtEl>
                                          <p:spTgt spid="14"/>
                                        </p:tgtEl>
                                        <p:attrNameLst>
                                          <p:attrName>ppt_y</p:attrName>
                                        </p:attrNameLst>
                                      </p:cBhvr>
                                      <p:tavLst>
                                        <p:tav tm="0">
                                          <p:val>
                                            <p:strVal val="#ppt_y+0.035"/>
                                          </p:val>
                                        </p:tav>
                                        <p:tav tm="100000">
                                          <p:val>
                                            <p:strVal val="#ppt_y"/>
                                          </p:val>
                                        </p:tav>
                                      </p:tavLst>
                                    </p:anim>
                                  </p:childTnLst>
                                </p:cTn>
                              </p:par>
                              <p:par>
                                <p:cTn id="26" presetID="22" presetClass="entr" presetSubtype="4" fill="hold" grpId="0" nodeType="withEffect">
                                  <p:stCondLst>
                                    <p:cond delay="1215"/>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375"/>
                                        <p:tgtEl>
                                          <p:spTgt spid="15"/>
                                        </p:tgtEl>
                                      </p:cBhvr>
                                    </p:animEffect>
                                  </p:childTnLst>
                                </p:cTn>
                              </p:par>
                              <p:par>
                                <p:cTn id="29" presetID="42" presetClass="entr" presetSubtype="0" fill="hold" grpId="0" nodeType="withEffect">
                                  <p:stCondLst>
                                    <p:cond delay="1282"/>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687"/>
                                        <p:tgtEl>
                                          <p:spTgt spid="16"/>
                                        </p:tgtEl>
                                      </p:cBhvr>
                                    </p:animEffect>
                                    <p:anim calcmode="lin" valueType="num">
                                      <p:cBhvr additive="base">
                                        <p:cTn id="32" dur="687" decel="100000" fill="hold"/>
                                        <p:tgtEl>
                                          <p:spTgt spid="16"/>
                                        </p:tgtEl>
                                        <p:attrNameLst>
                                          <p:attrName>ppt_y</p:attrName>
                                        </p:attrNameLst>
                                      </p:cBhvr>
                                      <p:tavLst>
                                        <p:tav tm="0">
                                          <p:val>
                                            <p:strVal val="#ppt_y+0.035"/>
                                          </p:val>
                                        </p:tav>
                                        <p:tav tm="100000">
                                          <p:val>
                                            <p:strVal val="#ppt_y"/>
                                          </p:val>
                                        </p:tav>
                                      </p:tavLst>
                                    </p:anim>
                                  </p:childTnLst>
                                </p:cTn>
                              </p:par>
                              <p:par>
                                <p:cTn id="33" presetID="22" presetClass="entr" presetSubtype="4" fill="hold" grpId="0" nodeType="withEffect">
                                  <p:stCondLst>
                                    <p:cond delay="1417"/>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375"/>
                                        <p:tgtEl>
                                          <p:spTgt spid="17"/>
                                        </p:tgtEl>
                                      </p:cBhvr>
                                    </p:animEffect>
                                  </p:childTnLst>
                                </p:cTn>
                              </p:par>
                              <p:par>
                                <p:cTn id="36" presetID="42" presetClass="entr" presetSubtype="0" fill="hold" grpId="0" nodeType="withEffect">
                                  <p:stCondLst>
                                    <p:cond delay="1485"/>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87"/>
                                        <p:tgtEl>
                                          <p:spTgt spid="18"/>
                                        </p:tgtEl>
                                      </p:cBhvr>
                                    </p:animEffect>
                                    <p:anim calcmode="lin" valueType="num">
                                      <p:cBhvr additive="base">
                                        <p:cTn id="39" dur="687" decel="100000" fill="hold"/>
                                        <p:tgtEl>
                                          <p:spTgt spid="18"/>
                                        </p:tgtEl>
                                        <p:attrNameLst>
                                          <p:attrName>ppt_y</p:attrName>
                                        </p:attrNameLst>
                                      </p:cBhvr>
                                      <p:tavLst>
                                        <p:tav tm="0">
                                          <p:val>
                                            <p:strVal val="#ppt_y+0.035"/>
                                          </p:val>
                                        </p:tav>
                                        <p:tav tm="100000">
                                          <p:val>
                                            <p:strVal val="#ppt_y"/>
                                          </p:val>
                                        </p:tav>
                                      </p:tavLst>
                                    </p:anim>
                                  </p:childTnLst>
                                </p:cTn>
                              </p:par>
                              <p:par>
                                <p:cTn id="40" presetID="22" presetClass="entr" presetSubtype="4" fill="hold" grpId="0" nodeType="withEffect">
                                  <p:stCondLst>
                                    <p:cond delay="162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375"/>
                                        <p:tgtEl>
                                          <p:spTgt spid="19"/>
                                        </p:tgtEl>
                                      </p:cBhvr>
                                    </p:animEffect>
                                  </p:childTnLst>
                                </p:cTn>
                              </p:par>
                              <p:par>
                                <p:cTn id="43" presetID="42" presetClass="entr" presetSubtype="0" fill="hold" grpId="0" nodeType="withEffect">
                                  <p:stCondLst>
                                    <p:cond delay="1687"/>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687"/>
                                        <p:tgtEl>
                                          <p:spTgt spid="20"/>
                                        </p:tgtEl>
                                      </p:cBhvr>
                                    </p:animEffect>
                                    <p:anim calcmode="lin" valueType="num">
                                      <p:cBhvr additive="base">
                                        <p:cTn id="46" dur="687" decel="100000" fill="hold"/>
                                        <p:tgtEl>
                                          <p:spTgt spid="20"/>
                                        </p:tgtEl>
                                        <p:attrNameLst>
                                          <p:attrName>ppt_y</p:attrName>
                                        </p:attrNameLst>
                                      </p:cBhvr>
                                      <p:tavLst>
                                        <p:tav tm="0">
                                          <p:val>
                                            <p:strVal val="#ppt_y+0.035"/>
                                          </p:val>
                                        </p:tav>
                                        <p:tav tm="100000">
                                          <p:val>
                                            <p:strVal val="#ppt_y"/>
                                          </p:val>
                                        </p:tav>
                                      </p:tavLst>
                                    </p:anim>
                                  </p:childTnLst>
                                </p:cTn>
                              </p:par>
                              <p:par>
                                <p:cTn id="47" presetID="22" presetClass="entr" presetSubtype="4" fill="hold" grpId="0" nodeType="withEffect">
                                  <p:stCondLst>
                                    <p:cond delay="1822"/>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375"/>
                                        <p:tgtEl>
                                          <p:spTgt spid="21"/>
                                        </p:tgtEl>
                                      </p:cBhvr>
                                    </p:animEffect>
                                  </p:childTnLst>
                                </p:cTn>
                              </p:par>
                              <p:par>
                                <p:cTn id="50" presetID="42" presetClass="entr" presetSubtype="0" fill="hold" grpId="0" nodeType="withEffect">
                                  <p:stCondLst>
                                    <p:cond delay="189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87"/>
                                        <p:tgtEl>
                                          <p:spTgt spid="22"/>
                                        </p:tgtEl>
                                      </p:cBhvr>
                                    </p:animEffect>
                                    <p:anim calcmode="lin" valueType="num">
                                      <p:cBhvr additive="base">
                                        <p:cTn id="53" dur="687" decel="100000" fill="hold"/>
                                        <p:tgtEl>
                                          <p:spTgt spid="22"/>
                                        </p:tgtEl>
                                        <p:attrNameLst>
                                          <p:attrName>ppt_y</p:attrName>
                                        </p:attrNameLst>
                                      </p:cBhvr>
                                      <p:tavLst>
                                        <p:tav tm="0">
                                          <p:val>
                                            <p:strVal val="#ppt_y+0.035"/>
                                          </p:val>
                                        </p:tav>
                                        <p:tav tm="100000">
                                          <p:val>
                                            <p:strVal val="#ppt_y"/>
                                          </p:val>
                                        </p:tav>
                                      </p:tavLst>
                                    </p:anim>
                                  </p:childTnLst>
                                </p:cTn>
                              </p:par>
                              <p:par>
                                <p:cTn id="54" presetID="42" presetClass="path" presetSubtype="0" accel="50000" decel="50000" repeatCount="indefinite" autoRev="1" fill="hold" grpId="0" nodeType="withEffect">
                                  <p:stCondLst>
                                    <p:cond delay="200"/>
                                  </p:stCondLst>
                                  <p:childTnLst>
                                    <p:animMotion origin="layout" path="M 0 0 L 0 -0.012 E" pathEditMode="relative" ptsTypes="">
                                      <p:cBhvr>
                                        <p:cTn id="55" dur="2600" fill="hold"/>
                                        <p:tgtEl>
                                          <p:spTgt spid="5"/>
                                        </p:tgtEl>
                                        <p:attrNameLst>
                                          <p:attrName>ppt_x</p:attrName>
                                          <p:attrName>ppt_y</p:attrName>
                                        </p:attrNameLst>
                                      </p:cBhvr>
                                    </p:animMotion>
                                  </p:childTnLst>
                                </p:cTn>
                              </p:par>
                              <p:par>
                                <p:cTn id="56" presetID="8" presetClass="emph" presetSubtype="0" accel="50000" decel="50000" repeatCount="indefinite" autoRev="1" fill="hold" grpId="0" nodeType="withEffect">
                                  <p:stCondLst>
                                    <p:cond delay="0"/>
                                  </p:stCondLst>
                                  <p:childTnLst>
                                    <p:animRot by="300000">
                                      <p:cBhvr>
                                        <p:cTn id="57"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8" grpId="0" animBg="1"/>
      <p:bldP spid="20" grpId="0" animBg="1"/>
      <p:bldP spid="22"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384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4789595"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03</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The forecasting models</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Six basic models and ways to combine them</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6675120" y="-2432304"/>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4297680" y="539496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71616" y="2743200"/>
            <a:ext cx="27432" cy="3520440"/>
          </a:xfrm>
          <a:prstGeom prst="rect">
            <a:avLst/>
          </a:prstGeom>
          <a:solidFill>
            <a:srgbClr val="15372E">
              <a:alpha val="90000"/>
            </a:srgbClr>
          </a:solidFill>
          <a:ln>
            <a:noFill/>
          </a:ln>
        </p:spPr>
        <p:txBody>
          <a:bodyPr rtlCol="0" anchor="ctr"/>
          <a:lstStyle/>
          <a:p>
            <a:pPr algn="ctr"/>
          </a:p>
        </p:txBody>
      </p:sp>
      <p:sp>
        <p:nvSpPr>
          <p:cNvPr id="4" name="!!ring"/>
          <p:cNvSpPr/>
          <p:nvPr/>
        </p:nvSpPr>
        <p:spPr>
          <a:xfrm rot="8160000">
            <a:off x="10698480" y="484632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92256" y="548640"/>
            <a:ext cx="704088" cy="32004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5225012"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Six basic risk models</a:t>
            </a:r>
          </a:p>
        </p:txBody>
      </p:sp>
      <p:sp>
        <p:nvSpPr>
          <p:cNvPr id="10" name="intro"/>
          <p:cNvSpPr txBox="1"/>
          <p:nvPr/>
        </p:nvSpPr>
        <p:spPr>
          <a:xfrm>
            <a:off x="822960" y="1874520"/>
            <a:ext cx="10515600" cy="777240"/>
          </a:xfrm>
          <a:prstGeom prst="rect">
            <a:avLst/>
          </a:prstGeom>
          <a:noFill/>
        </p:spPr>
        <p:txBody>
          <a:bodyPr wrap="square" anchor="t" lIns="0" rIns="0" tIns="0" bIns="0">
            <a:noAutofit/>
          </a:bodyPr>
          <a:lstStyle/>
          <a:p>
            <a:pPr algn="l">
              <a:lnSpc>
                <a:spcPct val="125000"/>
              </a:lnSpc>
            </a:pPr>
            <a:r>
              <a:rPr sz="1700" b="0">
                <a:solidFill>
                  <a:srgbClr val="9CC5B0"/>
                </a:solidFill>
                <a:latin typeface="Unbounded"/>
              </a:rPr>
              <a:t>Each base model looks at recent prices and outputs tomorrow's VaR and ES. They differ in what they assume about how volatility behaves.</a:t>
            </a:r>
          </a:p>
        </p:txBody>
      </p:sp>
      <p:sp>
        <p:nvSpPr>
          <p:cNvPr id="11" name="mark0"/>
          <p:cNvSpPr/>
          <p:nvPr/>
        </p:nvSpPr>
        <p:spPr>
          <a:xfrm>
            <a:off x="822960" y="2849880"/>
            <a:ext cx="45720" cy="182880"/>
          </a:xfrm>
          <a:prstGeom prst="rect">
            <a:avLst/>
          </a:prstGeom>
          <a:solidFill>
            <a:srgbClr val="B6F36B"/>
          </a:solidFill>
          <a:ln>
            <a:noFill/>
          </a:ln>
        </p:spPr>
        <p:txBody>
          <a:bodyPr rtlCol="0" anchor="ctr"/>
          <a:lstStyle/>
          <a:p>
            <a:pPr algn="ctr"/>
          </a:p>
        </p:txBody>
      </p:sp>
      <p:sp>
        <p:nvSpPr>
          <p:cNvPr id="12" name="point0"/>
          <p:cNvSpPr txBox="1"/>
          <p:nvPr/>
        </p:nvSpPr>
        <p:spPr>
          <a:xfrm>
            <a:off x="1051560" y="278892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EWMA: recent days count more. The RiskMetrics method banks have used for decades.</a:t>
            </a:r>
          </a:p>
        </p:txBody>
      </p:sp>
      <p:sp>
        <p:nvSpPr>
          <p:cNvPr id="13" name="mark1"/>
          <p:cNvSpPr/>
          <p:nvPr/>
        </p:nvSpPr>
        <p:spPr>
          <a:xfrm>
            <a:off x="822960" y="4023360"/>
            <a:ext cx="45720" cy="182880"/>
          </a:xfrm>
          <a:prstGeom prst="rect">
            <a:avLst/>
          </a:prstGeom>
          <a:solidFill>
            <a:srgbClr val="B6F36B"/>
          </a:solidFill>
          <a:ln>
            <a:noFill/>
          </a:ln>
        </p:spPr>
        <p:txBody>
          <a:bodyPr rtlCol="0" anchor="ctr"/>
          <a:lstStyle/>
          <a:p>
            <a:pPr algn="ctr"/>
          </a:p>
        </p:txBody>
      </p:sp>
      <p:sp>
        <p:nvSpPr>
          <p:cNvPr id="14" name="point1"/>
          <p:cNvSpPr txBox="1"/>
          <p:nvPr/>
        </p:nvSpPr>
        <p:spPr>
          <a:xfrm>
            <a:off x="1051560" y="396240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GARCH: today's risk depends on yesterday's shock and yesterday's risk level.</a:t>
            </a:r>
          </a:p>
        </p:txBody>
      </p:sp>
      <p:sp>
        <p:nvSpPr>
          <p:cNvPr id="15" name="mark2"/>
          <p:cNvSpPr/>
          <p:nvPr/>
        </p:nvSpPr>
        <p:spPr>
          <a:xfrm>
            <a:off x="822960" y="5196840"/>
            <a:ext cx="45720" cy="182880"/>
          </a:xfrm>
          <a:prstGeom prst="rect">
            <a:avLst/>
          </a:prstGeom>
          <a:solidFill>
            <a:srgbClr val="B6F36B"/>
          </a:solidFill>
          <a:ln>
            <a:noFill/>
          </a:ln>
        </p:spPr>
        <p:txBody>
          <a:bodyPr rtlCol="0" anchor="ctr"/>
          <a:lstStyle/>
          <a:p>
            <a:pPr algn="ctr"/>
          </a:p>
        </p:txBody>
      </p:sp>
      <p:sp>
        <p:nvSpPr>
          <p:cNvPr id="16" name="point2"/>
          <p:cNvSpPr txBox="1"/>
          <p:nvPr/>
        </p:nvSpPr>
        <p:spPr>
          <a:xfrm>
            <a:off x="1051560" y="513588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EGARCH and GJR-GARCH: like GARCH, but bad news raises risk more than good news.</a:t>
            </a:r>
          </a:p>
        </p:txBody>
      </p:sp>
      <p:sp>
        <p:nvSpPr>
          <p:cNvPr id="17" name="mark3"/>
          <p:cNvSpPr/>
          <p:nvPr/>
        </p:nvSpPr>
        <p:spPr>
          <a:xfrm>
            <a:off x="6263640" y="2849880"/>
            <a:ext cx="45720" cy="182880"/>
          </a:xfrm>
          <a:prstGeom prst="rect">
            <a:avLst/>
          </a:prstGeom>
          <a:solidFill>
            <a:srgbClr val="3FB98A"/>
          </a:solidFill>
          <a:ln>
            <a:noFill/>
          </a:ln>
        </p:spPr>
        <p:txBody>
          <a:bodyPr rtlCol="0" anchor="ctr"/>
          <a:lstStyle/>
          <a:p>
            <a:pPr algn="ctr"/>
          </a:p>
        </p:txBody>
      </p:sp>
      <p:sp>
        <p:nvSpPr>
          <p:cNvPr id="18" name="point3"/>
          <p:cNvSpPr txBox="1"/>
          <p:nvPr/>
        </p:nvSpPr>
        <p:spPr>
          <a:xfrm>
            <a:off x="6492240" y="278892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HAR: uses yesterday's, last week's and last month's volatility, measured from each day's high-low range.</a:t>
            </a:r>
          </a:p>
        </p:txBody>
      </p:sp>
      <p:sp>
        <p:nvSpPr>
          <p:cNvPr id="19" name="mark4"/>
          <p:cNvSpPr/>
          <p:nvPr/>
        </p:nvSpPr>
        <p:spPr>
          <a:xfrm>
            <a:off x="6263640" y="4023360"/>
            <a:ext cx="45720" cy="182880"/>
          </a:xfrm>
          <a:prstGeom prst="rect">
            <a:avLst/>
          </a:prstGeom>
          <a:solidFill>
            <a:srgbClr val="3FB98A"/>
          </a:solidFill>
          <a:ln>
            <a:noFill/>
          </a:ln>
        </p:spPr>
        <p:txBody>
          <a:bodyPr rtlCol="0" anchor="ctr"/>
          <a:lstStyle/>
          <a:p>
            <a:pPr algn="ctr"/>
          </a:p>
        </p:txBody>
      </p:sp>
      <p:sp>
        <p:nvSpPr>
          <p:cNvPr id="20" name="point4"/>
          <p:cNvSpPr txBox="1"/>
          <p:nvPr/>
        </p:nvSpPr>
        <p:spPr>
          <a:xfrm>
            <a:off x="6492240" y="396240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India VIX model: uses the market's own fear index, read from option prices.</a:t>
            </a:r>
          </a:p>
        </p:txBody>
      </p:sp>
      <p:sp>
        <p:nvSpPr>
          <p:cNvPr id="21" name="mark5"/>
          <p:cNvSpPr/>
          <p:nvPr/>
        </p:nvSpPr>
        <p:spPr>
          <a:xfrm>
            <a:off x="6263640" y="5196840"/>
            <a:ext cx="45720" cy="182880"/>
          </a:xfrm>
          <a:prstGeom prst="rect">
            <a:avLst/>
          </a:prstGeom>
          <a:solidFill>
            <a:srgbClr val="3FB98A"/>
          </a:solidFill>
          <a:ln>
            <a:noFill/>
          </a:ln>
        </p:spPr>
        <p:txBody>
          <a:bodyPr rtlCol="0" anchor="ctr"/>
          <a:lstStyle/>
          <a:p>
            <a:pPr algn="ctr"/>
          </a:p>
        </p:txBody>
      </p:sp>
      <p:sp>
        <p:nvSpPr>
          <p:cNvPr id="22" name="point5"/>
          <p:cNvSpPr txBox="1"/>
          <p:nvPr/>
        </p:nvSpPr>
        <p:spPr>
          <a:xfrm>
            <a:off x="6492240" y="5135880"/>
            <a:ext cx="4572000" cy="1100328"/>
          </a:xfrm>
          <a:prstGeom prst="rect">
            <a:avLst/>
          </a:prstGeom>
          <a:noFill/>
        </p:spPr>
        <p:txBody>
          <a:bodyPr wrap="square" anchor="t" lIns="0" rIns="0" tIns="0" bIns="0">
            <a:noAutofit/>
          </a:bodyPr>
          <a:lstStyle/>
          <a:p>
            <a:pPr algn="l">
              <a:lnSpc>
                <a:spcPct val="120000"/>
              </a:lnSpc>
            </a:pPr>
            <a:r>
              <a:rPr sz="1600" b="0">
                <a:solidFill>
                  <a:srgbClr val="ECF8EF"/>
                </a:solidFill>
                <a:latin typeface="Unbounded"/>
              </a:rPr>
              <a:t>All six are refitted every month on all past data, so they keep learning.</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10" presetClass="entr" presetSubtype="0" fill="hold" grpId="0" nodeType="withEffect">
                                  <p:stCondLst>
                                    <p:cond delay="540"/>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childTnLst>
                                </p:cTn>
                              </p:par>
                              <p:par>
                                <p:cTn id="12" presetID="22" presetClass="entr" presetSubtype="4" fill="hold" grpId="0" nodeType="withEffect">
                                  <p:stCondLst>
                                    <p:cond delay="81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375"/>
                                        <p:tgtEl>
                                          <p:spTgt spid="11"/>
                                        </p:tgtEl>
                                      </p:cBhvr>
                                    </p:animEffect>
                                  </p:childTnLst>
                                </p:cTn>
                              </p:par>
                              <p:par>
                                <p:cTn id="15" presetID="42" presetClass="entr" presetSubtype="0" fill="hold" grpId="0" nodeType="withEffect">
                                  <p:stCondLst>
                                    <p:cond delay="877"/>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687"/>
                                        <p:tgtEl>
                                          <p:spTgt spid="12"/>
                                        </p:tgtEl>
                                      </p:cBhvr>
                                    </p:animEffect>
                                    <p:anim calcmode="lin" valueType="num">
                                      <p:cBhvr additive="base">
                                        <p:cTn id="18" dur="687" decel="100000" fill="hold"/>
                                        <p:tgtEl>
                                          <p:spTgt spid="12"/>
                                        </p:tgtEl>
                                        <p:attrNameLst>
                                          <p:attrName>ppt_y</p:attrName>
                                        </p:attrNameLst>
                                      </p:cBhvr>
                                      <p:tavLst>
                                        <p:tav tm="0">
                                          <p:val>
                                            <p:strVal val="#ppt_y+0.035"/>
                                          </p:val>
                                        </p:tav>
                                        <p:tav tm="100000">
                                          <p:val>
                                            <p:strVal val="#ppt_y"/>
                                          </p:val>
                                        </p:tav>
                                      </p:tavLst>
                                    </p:anim>
                                  </p:childTnLst>
                                </p:cTn>
                              </p:par>
                              <p:par>
                                <p:cTn id="19" presetID="22" presetClass="entr" presetSubtype="4" fill="hold" grpId="0" nodeType="withEffect">
                                  <p:stCondLst>
                                    <p:cond delay="1012"/>
                                  </p:stCondLst>
                                  <p:childTnLst>
                                    <p:set>
                                      <p:cBhvr>
                                        <p:cTn id="20" dur="1" fill="hold">
                                          <p:stCondLst>
                                            <p:cond delay="0"/>
                                          </p:stCondLst>
                                        </p:cTn>
                                        <p:tgtEl>
                                          <p:spTgt spid="13"/>
                                        </p:tgtEl>
                                        <p:attrNameLst>
                                          <p:attrName>style.visibility</p:attrName>
                                        </p:attrNameLst>
                                      </p:cBhvr>
                                      <p:to>
                                        <p:strVal val="visible"/>
                                      </p:to>
                                    </p:set>
                                    <p:animEffect transition="in" filter="wipe(up)">
                                      <p:cBhvr>
                                        <p:cTn id="21" dur="375"/>
                                        <p:tgtEl>
                                          <p:spTgt spid="13"/>
                                        </p:tgtEl>
                                      </p:cBhvr>
                                    </p:animEffect>
                                  </p:childTnLst>
                                </p:cTn>
                              </p:par>
                              <p:par>
                                <p:cTn id="22" presetID="42" presetClass="entr" presetSubtype="0" fill="hold" grpId="0" nodeType="withEffect">
                                  <p:stCondLst>
                                    <p:cond delay="108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687"/>
                                        <p:tgtEl>
                                          <p:spTgt spid="14"/>
                                        </p:tgtEl>
                                      </p:cBhvr>
                                    </p:animEffect>
                                    <p:anim calcmode="lin" valueType="num">
                                      <p:cBhvr additive="base">
                                        <p:cTn id="25" dur="687" decel="100000" fill="hold"/>
                                        <p:tgtEl>
                                          <p:spTgt spid="14"/>
                                        </p:tgtEl>
                                        <p:attrNameLst>
                                          <p:attrName>ppt_y</p:attrName>
                                        </p:attrNameLst>
                                      </p:cBhvr>
                                      <p:tavLst>
                                        <p:tav tm="0">
                                          <p:val>
                                            <p:strVal val="#ppt_y+0.035"/>
                                          </p:val>
                                        </p:tav>
                                        <p:tav tm="100000">
                                          <p:val>
                                            <p:strVal val="#ppt_y"/>
                                          </p:val>
                                        </p:tav>
                                      </p:tavLst>
                                    </p:anim>
                                  </p:childTnLst>
                                </p:cTn>
                              </p:par>
                              <p:par>
                                <p:cTn id="26" presetID="22" presetClass="entr" presetSubtype="4" fill="hold" grpId="0" nodeType="withEffect">
                                  <p:stCondLst>
                                    <p:cond delay="1215"/>
                                  </p:stCondLst>
                                  <p:childTnLst>
                                    <p:set>
                                      <p:cBhvr>
                                        <p:cTn id="27" dur="1" fill="hold">
                                          <p:stCondLst>
                                            <p:cond delay="0"/>
                                          </p:stCondLst>
                                        </p:cTn>
                                        <p:tgtEl>
                                          <p:spTgt spid="15"/>
                                        </p:tgtEl>
                                        <p:attrNameLst>
                                          <p:attrName>style.visibility</p:attrName>
                                        </p:attrNameLst>
                                      </p:cBhvr>
                                      <p:to>
                                        <p:strVal val="visible"/>
                                      </p:to>
                                    </p:set>
                                    <p:animEffect transition="in" filter="wipe(up)">
                                      <p:cBhvr>
                                        <p:cTn id="28" dur="375"/>
                                        <p:tgtEl>
                                          <p:spTgt spid="15"/>
                                        </p:tgtEl>
                                      </p:cBhvr>
                                    </p:animEffect>
                                  </p:childTnLst>
                                </p:cTn>
                              </p:par>
                              <p:par>
                                <p:cTn id="29" presetID="42" presetClass="entr" presetSubtype="0" fill="hold" grpId="0" nodeType="withEffect">
                                  <p:stCondLst>
                                    <p:cond delay="1282"/>
                                  </p:stCondLst>
                                  <p:childTnLst>
                                    <p:set>
                                      <p:cBhvr>
                                        <p:cTn id="30" dur="1" fill="hold">
                                          <p:stCondLst>
                                            <p:cond delay="0"/>
                                          </p:stCondLst>
                                        </p:cTn>
                                        <p:tgtEl>
                                          <p:spTgt spid="16"/>
                                        </p:tgtEl>
                                        <p:attrNameLst>
                                          <p:attrName>style.visibility</p:attrName>
                                        </p:attrNameLst>
                                      </p:cBhvr>
                                      <p:to>
                                        <p:strVal val="visible"/>
                                      </p:to>
                                    </p:set>
                                    <p:animEffect transition="in" filter="fade">
                                      <p:cBhvr>
                                        <p:cTn id="31" dur="687"/>
                                        <p:tgtEl>
                                          <p:spTgt spid="16"/>
                                        </p:tgtEl>
                                      </p:cBhvr>
                                    </p:animEffect>
                                    <p:anim calcmode="lin" valueType="num">
                                      <p:cBhvr additive="base">
                                        <p:cTn id="32" dur="687" decel="100000" fill="hold"/>
                                        <p:tgtEl>
                                          <p:spTgt spid="16"/>
                                        </p:tgtEl>
                                        <p:attrNameLst>
                                          <p:attrName>ppt_y</p:attrName>
                                        </p:attrNameLst>
                                      </p:cBhvr>
                                      <p:tavLst>
                                        <p:tav tm="0">
                                          <p:val>
                                            <p:strVal val="#ppt_y+0.035"/>
                                          </p:val>
                                        </p:tav>
                                        <p:tav tm="100000">
                                          <p:val>
                                            <p:strVal val="#ppt_y"/>
                                          </p:val>
                                        </p:tav>
                                      </p:tavLst>
                                    </p:anim>
                                  </p:childTnLst>
                                </p:cTn>
                              </p:par>
                              <p:par>
                                <p:cTn id="33" presetID="22" presetClass="entr" presetSubtype="4" fill="hold" grpId="0" nodeType="withEffect">
                                  <p:stCondLst>
                                    <p:cond delay="1417"/>
                                  </p:stCondLst>
                                  <p:childTnLst>
                                    <p:set>
                                      <p:cBhvr>
                                        <p:cTn id="34" dur="1" fill="hold">
                                          <p:stCondLst>
                                            <p:cond delay="0"/>
                                          </p:stCondLst>
                                        </p:cTn>
                                        <p:tgtEl>
                                          <p:spTgt spid="17"/>
                                        </p:tgtEl>
                                        <p:attrNameLst>
                                          <p:attrName>style.visibility</p:attrName>
                                        </p:attrNameLst>
                                      </p:cBhvr>
                                      <p:to>
                                        <p:strVal val="visible"/>
                                      </p:to>
                                    </p:set>
                                    <p:animEffect transition="in" filter="wipe(up)">
                                      <p:cBhvr>
                                        <p:cTn id="35" dur="375"/>
                                        <p:tgtEl>
                                          <p:spTgt spid="17"/>
                                        </p:tgtEl>
                                      </p:cBhvr>
                                    </p:animEffect>
                                  </p:childTnLst>
                                </p:cTn>
                              </p:par>
                              <p:par>
                                <p:cTn id="36" presetID="42" presetClass="entr" presetSubtype="0" fill="hold" grpId="0" nodeType="withEffect">
                                  <p:stCondLst>
                                    <p:cond delay="1485"/>
                                  </p:stCondLst>
                                  <p:childTnLst>
                                    <p:set>
                                      <p:cBhvr>
                                        <p:cTn id="37" dur="1" fill="hold">
                                          <p:stCondLst>
                                            <p:cond delay="0"/>
                                          </p:stCondLst>
                                        </p:cTn>
                                        <p:tgtEl>
                                          <p:spTgt spid="18"/>
                                        </p:tgtEl>
                                        <p:attrNameLst>
                                          <p:attrName>style.visibility</p:attrName>
                                        </p:attrNameLst>
                                      </p:cBhvr>
                                      <p:to>
                                        <p:strVal val="visible"/>
                                      </p:to>
                                    </p:set>
                                    <p:animEffect transition="in" filter="fade">
                                      <p:cBhvr>
                                        <p:cTn id="38" dur="687"/>
                                        <p:tgtEl>
                                          <p:spTgt spid="18"/>
                                        </p:tgtEl>
                                      </p:cBhvr>
                                    </p:animEffect>
                                    <p:anim calcmode="lin" valueType="num">
                                      <p:cBhvr additive="base">
                                        <p:cTn id="39" dur="687" decel="100000" fill="hold"/>
                                        <p:tgtEl>
                                          <p:spTgt spid="18"/>
                                        </p:tgtEl>
                                        <p:attrNameLst>
                                          <p:attrName>ppt_y</p:attrName>
                                        </p:attrNameLst>
                                      </p:cBhvr>
                                      <p:tavLst>
                                        <p:tav tm="0">
                                          <p:val>
                                            <p:strVal val="#ppt_y+0.035"/>
                                          </p:val>
                                        </p:tav>
                                        <p:tav tm="100000">
                                          <p:val>
                                            <p:strVal val="#ppt_y"/>
                                          </p:val>
                                        </p:tav>
                                      </p:tavLst>
                                    </p:anim>
                                  </p:childTnLst>
                                </p:cTn>
                              </p:par>
                              <p:par>
                                <p:cTn id="40" presetID="22" presetClass="entr" presetSubtype="4" fill="hold" grpId="0" nodeType="withEffect">
                                  <p:stCondLst>
                                    <p:cond delay="1620"/>
                                  </p:stCondLst>
                                  <p:childTnLst>
                                    <p:set>
                                      <p:cBhvr>
                                        <p:cTn id="41" dur="1" fill="hold">
                                          <p:stCondLst>
                                            <p:cond delay="0"/>
                                          </p:stCondLst>
                                        </p:cTn>
                                        <p:tgtEl>
                                          <p:spTgt spid="19"/>
                                        </p:tgtEl>
                                        <p:attrNameLst>
                                          <p:attrName>style.visibility</p:attrName>
                                        </p:attrNameLst>
                                      </p:cBhvr>
                                      <p:to>
                                        <p:strVal val="visible"/>
                                      </p:to>
                                    </p:set>
                                    <p:animEffect transition="in" filter="wipe(up)">
                                      <p:cBhvr>
                                        <p:cTn id="42" dur="375"/>
                                        <p:tgtEl>
                                          <p:spTgt spid="19"/>
                                        </p:tgtEl>
                                      </p:cBhvr>
                                    </p:animEffect>
                                  </p:childTnLst>
                                </p:cTn>
                              </p:par>
                              <p:par>
                                <p:cTn id="43" presetID="42" presetClass="entr" presetSubtype="0" fill="hold" grpId="0" nodeType="withEffect">
                                  <p:stCondLst>
                                    <p:cond delay="1687"/>
                                  </p:stCondLst>
                                  <p:childTnLst>
                                    <p:set>
                                      <p:cBhvr>
                                        <p:cTn id="44" dur="1" fill="hold">
                                          <p:stCondLst>
                                            <p:cond delay="0"/>
                                          </p:stCondLst>
                                        </p:cTn>
                                        <p:tgtEl>
                                          <p:spTgt spid="20"/>
                                        </p:tgtEl>
                                        <p:attrNameLst>
                                          <p:attrName>style.visibility</p:attrName>
                                        </p:attrNameLst>
                                      </p:cBhvr>
                                      <p:to>
                                        <p:strVal val="visible"/>
                                      </p:to>
                                    </p:set>
                                    <p:animEffect transition="in" filter="fade">
                                      <p:cBhvr>
                                        <p:cTn id="45" dur="687"/>
                                        <p:tgtEl>
                                          <p:spTgt spid="20"/>
                                        </p:tgtEl>
                                      </p:cBhvr>
                                    </p:animEffect>
                                    <p:anim calcmode="lin" valueType="num">
                                      <p:cBhvr additive="base">
                                        <p:cTn id="46" dur="687" decel="100000" fill="hold"/>
                                        <p:tgtEl>
                                          <p:spTgt spid="20"/>
                                        </p:tgtEl>
                                        <p:attrNameLst>
                                          <p:attrName>ppt_y</p:attrName>
                                        </p:attrNameLst>
                                      </p:cBhvr>
                                      <p:tavLst>
                                        <p:tav tm="0">
                                          <p:val>
                                            <p:strVal val="#ppt_y+0.035"/>
                                          </p:val>
                                        </p:tav>
                                        <p:tav tm="100000">
                                          <p:val>
                                            <p:strVal val="#ppt_y"/>
                                          </p:val>
                                        </p:tav>
                                      </p:tavLst>
                                    </p:anim>
                                  </p:childTnLst>
                                </p:cTn>
                              </p:par>
                              <p:par>
                                <p:cTn id="47" presetID="22" presetClass="entr" presetSubtype="4" fill="hold" grpId="0" nodeType="withEffect">
                                  <p:stCondLst>
                                    <p:cond delay="1822"/>
                                  </p:stCondLst>
                                  <p:childTnLst>
                                    <p:set>
                                      <p:cBhvr>
                                        <p:cTn id="48" dur="1" fill="hold">
                                          <p:stCondLst>
                                            <p:cond delay="0"/>
                                          </p:stCondLst>
                                        </p:cTn>
                                        <p:tgtEl>
                                          <p:spTgt spid="21"/>
                                        </p:tgtEl>
                                        <p:attrNameLst>
                                          <p:attrName>style.visibility</p:attrName>
                                        </p:attrNameLst>
                                      </p:cBhvr>
                                      <p:to>
                                        <p:strVal val="visible"/>
                                      </p:to>
                                    </p:set>
                                    <p:animEffect transition="in" filter="wipe(up)">
                                      <p:cBhvr>
                                        <p:cTn id="49" dur="375"/>
                                        <p:tgtEl>
                                          <p:spTgt spid="21"/>
                                        </p:tgtEl>
                                      </p:cBhvr>
                                    </p:animEffect>
                                  </p:childTnLst>
                                </p:cTn>
                              </p:par>
                              <p:par>
                                <p:cTn id="50" presetID="42" presetClass="entr" presetSubtype="0" fill="hold" grpId="0" nodeType="withEffect">
                                  <p:stCondLst>
                                    <p:cond delay="1890"/>
                                  </p:stCondLst>
                                  <p:childTnLst>
                                    <p:set>
                                      <p:cBhvr>
                                        <p:cTn id="51" dur="1" fill="hold">
                                          <p:stCondLst>
                                            <p:cond delay="0"/>
                                          </p:stCondLst>
                                        </p:cTn>
                                        <p:tgtEl>
                                          <p:spTgt spid="22"/>
                                        </p:tgtEl>
                                        <p:attrNameLst>
                                          <p:attrName>style.visibility</p:attrName>
                                        </p:attrNameLst>
                                      </p:cBhvr>
                                      <p:to>
                                        <p:strVal val="visible"/>
                                      </p:to>
                                    </p:set>
                                    <p:animEffect transition="in" filter="fade">
                                      <p:cBhvr>
                                        <p:cTn id="52" dur="687"/>
                                        <p:tgtEl>
                                          <p:spTgt spid="22"/>
                                        </p:tgtEl>
                                      </p:cBhvr>
                                    </p:animEffect>
                                    <p:anim calcmode="lin" valueType="num">
                                      <p:cBhvr additive="base">
                                        <p:cTn id="53" dur="687" decel="100000" fill="hold"/>
                                        <p:tgtEl>
                                          <p:spTgt spid="22"/>
                                        </p:tgtEl>
                                        <p:attrNameLst>
                                          <p:attrName>ppt_y</p:attrName>
                                        </p:attrNameLst>
                                      </p:cBhvr>
                                      <p:tavLst>
                                        <p:tav tm="0">
                                          <p:val>
                                            <p:strVal val="#ppt_y+0.035"/>
                                          </p:val>
                                        </p:tav>
                                        <p:tav tm="100000">
                                          <p:val>
                                            <p:strVal val="#ppt_y"/>
                                          </p:val>
                                        </p:tav>
                                      </p:tavLst>
                                    </p:anim>
                                  </p:childTnLst>
                                </p:cTn>
                              </p:par>
                              <p:par>
                                <p:cTn id="54" presetID="42" presetClass="path" presetSubtype="0" accel="50000" decel="50000" repeatCount="indefinite" autoRev="1" fill="hold" grpId="0" nodeType="withEffect">
                                  <p:stCondLst>
                                    <p:cond delay="200"/>
                                  </p:stCondLst>
                                  <p:childTnLst>
                                    <p:animMotion origin="layout" path="M 0 0 L 0 -0.012 E" pathEditMode="relative" ptsTypes="">
                                      <p:cBhvr>
                                        <p:cTn id="55" dur="2600" fill="hold"/>
                                        <p:tgtEl>
                                          <p:spTgt spid="5"/>
                                        </p:tgtEl>
                                        <p:attrNameLst>
                                          <p:attrName>ppt_x</p:attrName>
                                          <p:attrName>ppt_y</p:attrName>
                                        </p:attrNameLst>
                                      </p:cBhvr>
                                    </p:animMotion>
                                  </p:childTnLst>
                                </p:cTn>
                              </p:par>
                              <p:par>
                                <p:cTn id="56" presetID="8" presetClass="emph" presetSubtype="0" accel="50000" decel="50000" repeatCount="indefinite" autoRev="1" fill="hold" grpId="0" nodeType="withEffect">
                                  <p:stCondLst>
                                    <p:cond delay="0"/>
                                  </p:stCondLst>
                                  <p:childTnLst>
                                    <p:animRot by="300000">
                                      <p:cBhvr>
                                        <p:cTn id="57"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P spid="14" grpId="0" animBg="1"/>
      <p:bldP spid="16" grpId="0" animBg="1"/>
      <p:bldP spid="18" grpId="0" animBg="1"/>
      <p:bldP spid="20" grpId="0" animBg="1"/>
      <p:bldP spid="22"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1645920" y="-2907792"/>
            <a:ext cx="8778240" cy="3072384"/>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1645920" y="5779008"/>
            <a:ext cx="8778240" cy="3072384"/>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67044" y="1874520"/>
            <a:ext cx="54864" cy="4297680"/>
          </a:xfrm>
          <a:prstGeom prst="rect">
            <a:avLst/>
          </a:prstGeom>
          <a:solidFill>
            <a:srgbClr val="B6F36B">
              <a:alpha val="90000"/>
            </a:srgbClr>
          </a:solidFill>
          <a:ln>
            <a:noFill/>
          </a:ln>
        </p:spPr>
        <p:txBody>
          <a:bodyPr rtlCol="0" anchor="ctr"/>
          <a:lstStyle/>
          <a:p>
            <a:pPr algn="ctr"/>
          </a:p>
        </p:txBody>
      </p:sp>
      <p:sp>
        <p:nvSpPr>
          <p:cNvPr id="4" name="!!ring"/>
          <p:cNvSpPr/>
          <p:nvPr/>
        </p:nvSpPr>
        <p:spPr>
          <a:xfrm rot="3600000">
            <a:off x="5458968" y="3081528"/>
            <a:ext cx="1280160" cy="12801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5696712" y="3538728"/>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916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5660430"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Two ways to combine forecasts</a:t>
            </a:r>
          </a:p>
        </p:txBody>
      </p:sp>
      <p:sp>
        <p:nvSpPr>
          <p:cNvPr id="10" name="left"/>
          <p:cNvSpPr/>
          <p:nvPr/>
        </p:nvSpPr>
        <p:spPr>
          <a:xfrm>
            <a:off x="822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B6F36B"/>
                </a:solidFill>
                <a:latin typeface="Unbounded"/>
              </a:rPr>
              <a:t>SIMPLE COMBINATIONS</a:t>
            </a:r>
          </a:p>
          <a:p>
            <a:pPr algn="l">
              <a:lnSpc>
                <a:spcPct val="120000"/>
              </a:lnSpc>
              <a:spcAft>
                <a:spcPts val="1000"/>
              </a:spcAft>
            </a:pPr>
            <a:r>
              <a:rPr sz="1700" b="0">
                <a:solidFill>
                  <a:srgbClr val="ECF8EF"/>
                </a:solidFill>
                <a:latin typeface="Unbounded"/>
              </a:rPr>
              <a:t>—  Equal weights: average all six models</a:t>
            </a:r>
          </a:p>
          <a:p>
            <a:pPr algn="l">
              <a:lnSpc>
                <a:spcPct val="120000"/>
              </a:lnSpc>
              <a:spcAft>
                <a:spcPts val="1000"/>
              </a:spcAft>
            </a:pPr>
            <a:r>
              <a:rPr sz="1700" b="0">
                <a:solidFill>
                  <a:srgbClr val="ECF8EF"/>
                </a:solidFill>
                <a:latin typeface="Unbounded"/>
              </a:rPr>
              <a:t>—  Median: take the middle forecast</a:t>
            </a:r>
          </a:p>
          <a:p>
            <a:pPr algn="l">
              <a:lnSpc>
                <a:spcPct val="120000"/>
              </a:lnSpc>
              <a:spcAft>
                <a:spcPts val="1000"/>
              </a:spcAft>
            </a:pPr>
            <a:r>
              <a:rPr sz="1700" b="0">
                <a:solidFill>
                  <a:srgbClr val="ECF8EF"/>
                </a:solidFill>
                <a:latin typeface="Unbounded"/>
              </a:rPr>
              <a:t>—  Taylor (2020): weights based on each model's past score</a:t>
            </a:r>
          </a:p>
          <a:p>
            <a:pPr algn="l">
              <a:lnSpc>
                <a:spcPct val="120000"/>
              </a:lnSpc>
              <a:spcAft>
                <a:spcPts val="1000"/>
              </a:spcAft>
            </a:pPr>
            <a:r>
              <a:rPr sz="1700" b="0">
                <a:solidFill>
                  <a:srgbClr val="ECF8EF"/>
                </a:solidFill>
                <a:latin typeface="Unbounded"/>
              </a:rPr>
              <a:t>—  Fixed rules, nothing learned about today</a:t>
            </a:r>
          </a:p>
        </p:txBody>
      </p:sp>
      <p:sp>
        <p:nvSpPr>
          <p:cNvPr id="11" name="right"/>
          <p:cNvSpPr/>
          <p:nvPr/>
        </p:nvSpPr>
        <p:spPr>
          <a:xfrm>
            <a:off x="6537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3FB98A"/>
                </a:solidFill>
                <a:latin typeface="Unbounded"/>
              </a:rPr>
              <a:t>LEARNED GATE</a:t>
            </a:r>
          </a:p>
          <a:p>
            <a:pPr algn="l">
              <a:lnSpc>
                <a:spcPct val="120000"/>
              </a:lnSpc>
              <a:spcAft>
                <a:spcPts val="1000"/>
              </a:spcAft>
            </a:pPr>
            <a:r>
              <a:rPr sz="1700" b="0">
                <a:solidFill>
                  <a:srgbClr val="ECF8EF"/>
                </a:solidFill>
                <a:latin typeface="Unbounded"/>
              </a:rPr>
              <a:t>—  A small neural network reads today's market</a:t>
            </a:r>
          </a:p>
          <a:p>
            <a:pPr algn="l">
              <a:lnSpc>
                <a:spcPct val="120000"/>
              </a:lnSpc>
              <a:spcAft>
                <a:spcPts val="1000"/>
              </a:spcAft>
            </a:pPr>
            <a:r>
              <a:rPr sz="1700" b="0">
                <a:solidFill>
                  <a:srgbClr val="ECF8EF"/>
                </a:solidFill>
                <a:latin typeface="Unbounded"/>
              </a:rPr>
              <a:t>—  Chooses how much to trust each model</a:t>
            </a:r>
          </a:p>
          <a:p>
            <a:pPr algn="l">
              <a:lnSpc>
                <a:spcPct val="120000"/>
              </a:lnSpc>
              <a:spcAft>
                <a:spcPts val="1000"/>
              </a:spcAft>
            </a:pPr>
            <a:r>
              <a:rPr sz="1700" b="0">
                <a:solidFill>
                  <a:srgbClr val="ECF8EF"/>
                </a:solidFill>
                <a:latin typeface="Unbounded"/>
              </a:rPr>
              <a:t>—  Can also scale total risk up or down (factor g)</a:t>
            </a:r>
          </a:p>
          <a:p>
            <a:pPr algn="l">
              <a:lnSpc>
                <a:spcPct val="120000"/>
              </a:lnSpc>
              <a:spcAft>
                <a:spcPts val="1000"/>
              </a:spcAft>
            </a:pPr>
            <a:r>
              <a:rPr sz="1700" b="0">
                <a:solidFill>
                  <a:srgbClr val="ECF8EF"/>
                </a:solidFill>
                <a:latin typeface="Unbounded"/>
              </a:rPr>
              <a:t>—  Promises to adapt to changing conditions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entr" presetSubtype="0" fill="hold" grpId="0" nodeType="withEffect">
                                  <p:stCondLst>
                                    <p:cond delay="10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75"/>
                                        <p:tgtEl>
                                          <p:spTgt spid="11"/>
                                        </p:tgtEl>
                                      </p:cBhvr>
                                    </p:animEffect>
                                    <p:anim calcmode="lin" valueType="num">
                                      <p:cBhvr additive="base">
                                        <p:cTn id="16" dur="875" decel="100000" fill="hold"/>
                                        <p:tgtEl>
                                          <p:spTgt spid="11"/>
                                        </p:tgtEl>
                                        <p:attrNameLst>
                                          <p:attrName>ppt_y</p:attrName>
                                        </p:attrNameLst>
                                      </p:cBhvr>
                                      <p:tavLst>
                                        <p:tav tm="0">
                                          <p:val>
                                            <p:strVal val="#ppt_y+0.035"/>
                                          </p:val>
                                        </p:tav>
                                        <p:tav tm="100000">
                                          <p:val>
                                            <p:strVal val="#ppt_y"/>
                                          </p:val>
                                        </p:tav>
                                      </p:tavLst>
                                    </p:anim>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792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6095848"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Inside the learned gate</a:t>
            </a:r>
          </a:p>
        </p:txBody>
      </p:sp>
      <p:pic>
        <p:nvPicPr>
          <p:cNvPr id="10" name="figure" descr="flow_gate.png"/>
          <p:cNvPicPr>
            <a:picLocks noChangeAspect="1"/>
          </p:cNvPicPr>
          <p:nvPr/>
        </p:nvPicPr>
        <p:blipFill>
          <a:blip r:embed="rId2"/>
          <a:srcRect t="4" b="4"/>
          <a:stretch>
            <a:fillRect/>
          </a:stretch>
        </p:blipFill>
        <p:spPr>
          <a:xfrm>
            <a:off x="1511480" y="1645920"/>
            <a:ext cx="9168735" cy="4709160"/>
          </a:xfrm>
          <a:prstGeom prst="roundRect">
            <a:avLst>
              <a:gd name="adj" fmla="val 1165"/>
            </a:avLst>
          </a:prstGeom>
        </p:spPr>
      </p:pic>
      <p:sp>
        <p:nvSpPr>
          <p:cNvPr id="11" name="caption"/>
          <p:cNvSpPr txBox="1"/>
          <p:nvPr/>
        </p:nvSpPr>
        <p:spPr>
          <a:xfrm>
            <a:off x="822960" y="6464808"/>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g below 1 means the gate reports less risk than its own models say.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1446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6531265"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04</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Our three projects</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From a promising idea to a tested explanation</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1434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6966683"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Three projects, one question</a:t>
            </a:r>
          </a:p>
        </p:txBody>
      </p:sp>
      <p:pic>
        <p:nvPicPr>
          <p:cNvPr id="10" name="figure" descr="flow_projects.png"/>
          <p:cNvPicPr>
            <a:picLocks noChangeAspect="1"/>
          </p:cNvPicPr>
          <p:nvPr/>
        </p:nvPicPr>
        <p:blipFill>
          <a:blip r:embed="rId2"/>
          <a:srcRect t="7" b="7"/>
          <a:stretch>
            <a:fillRect/>
          </a:stretch>
        </p:blipFill>
        <p:spPr>
          <a:xfrm>
            <a:off x="822960" y="1645920"/>
            <a:ext cx="10545775" cy="4070156"/>
          </a:xfrm>
          <a:prstGeom prst="roundRect">
            <a:avLst>
              <a:gd name="adj" fmla="val 1347"/>
            </a:avLst>
          </a:prstGeom>
        </p:spPr>
      </p:pic>
      <p:sp>
        <p:nvSpPr>
          <p:cNvPr id="11" name="caption"/>
          <p:cNvSpPr txBox="1"/>
          <p:nvPr/>
        </p:nvSpPr>
        <p:spPr>
          <a:xfrm>
            <a:off x="822960" y="5825804"/>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Each project fixed the weaknesses of the one before it.</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1645920" y="-2907792"/>
            <a:ext cx="8778240" cy="3072384"/>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1645920" y="5779008"/>
            <a:ext cx="8778240" cy="3072384"/>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67044" y="1874520"/>
            <a:ext cx="54864" cy="4297680"/>
          </a:xfrm>
          <a:prstGeom prst="rect">
            <a:avLst/>
          </a:prstGeom>
          <a:solidFill>
            <a:srgbClr val="B6F36B">
              <a:alpha val="90000"/>
            </a:srgbClr>
          </a:solidFill>
          <a:ln>
            <a:noFill/>
          </a:ln>
        </p:spPr>
        <p:txBody>
          <a:bodyPr rtlCol="0" anchor="ctr"/>
          <a:lstStyle/>
          <a:p>
            <a:pPr algn="ctr"/>
          </a:p>
        </p:txBody>
      </p:sp>
      <p:sp>
        <p:nvSpPr>
          <p:cNvPr id="4" name="!!ring"/>
          <p:cNvSpPr/>
          <p:nvPr/>
        </p:nvSpPr>
        <p:spPr>
          <a:xfrm rot="14220000">
            <a:off x="5458968" y="3081528"/>
            <a:ext cx="1280160" cy="12801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5696712" y="3538728"/>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916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7402101"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First project vs final project</a:t>
            </a:r>
          </a:p>
        </p:txBody>
      </p:sp>
      <p:sp>
        <p:nvSpPr>
          <p:cNvPr id="10" name="left"/>
          <p:cNvSpPr/>
          <p:nvPr/>
        </p:nvSpPr>
        <p:spPr>
          <a:xfrm>
            <a:off x="822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B6F36B"/>
                </a:solidFill>
                <a:latin typeface="Unbounded"/>
              </a:rPr>
              <a:t>PROJECT 1</a:t>
            </a:r>
          </a:p>
          <a:p>
            <a:pPr algn="l">
              <a:lnSpc>
                <a:spcPct val="120000"/>
              </a:lnSpc>
              <a:spcAft>
                <a:spcPts val="1000"/>
              </a:spcAft>
            </a:pPr>
            <a:r>
              <a:rPr sz="1700" b="0">
                <a:solidFill>
                  <a:srgbClr val="ECF8EF"/>
                </a:solidFill>
                <a:latin typeface="Unbounded"/>
              </a:rPr>
              <a:t>—  Forecast volatility only</a:t>
            </a:r>
          </a:p>
          <a:p>
            <a:pPr algn="l">
              <a:lnSpc>
                <a:spcPct val="120000"/>
              </a:lnSpc>
              <a:spcAft>
                <a:spcPts val="1000"/>
              </a:spcAft>
            </a:pPr>
            <a:r>
              <a:rPr sz="1700" b="0">
                <a:solidFill>
                  <a:srgbClr val="ECF8EF"/>
                </a:solidFill>
                <a:latin typeface="Unbounded"/>
              </a:rPr>
              <a:t>—  4 models frozen after 2021</a:t>
            </a:r>
          </a:p>
          <a:p>
            <a:pPr algn="l">
              <a:lnSpc>
                <a:spcPct val="120000"/>
              </a:lnSpc>
              <a:spcAft>
                <a:spcPts val="1000"/>
              </a:spcAft>
            </a:pPr>
            <a:r>
              <a:rPr sz="1700" b="0">
                <a:solidFill>
                  <a:srgbClr val="ECF8EF"/>
                </a:solidFill>
                <a:latin typeface="Unbounded"/>
              </a:rPr>
              <a:t>—  8 assets, tested on 2025 only</a:t>
            </a:r>
          </a:p>
          <a:p>
            <a:pPr algn="l">
              <a:lnSpc>
                <a:spcPct val="120000"/>
              </a:lnSpc>
              <a:spcAft>
                <a:spcPts val="1000"/>
              </a:spcAft>
            </a:pPr>
            <a:r>
              <a:rPr sz="1700" b="0">
                <a:solidFill>
                  <a:srgbClr val="ECF8EF"/>
                </a:solidFill>
                <a:latin typeface="Unbounded"/>
              </a:rPr>
              <a:t>—  No significance tests</a:t>
            </a:r>
          </a:p>
          <a:p>
            <a:pPr algn="l">
              <a:lnSpc>
                <a:spcPct val="120000"/>
              </a:lnSpc>
              <a:spcAft>
                <a:spcPts val="1000"/>
              </a:spcAft>
            </a:pPr>
            <a:r>
              <a:rPr sz="1700" b="0">
                <a:solidFill>
                  <a:srgbClr val="ECF8EF"/>
                </a:solidFill>
                <a:latin typeface="Unbounded"/>
              </a:rPr>
              <a:t>—  Validation reports printed PASS without checking</a:t>
            </a:r>
          </a:p>
        </p:txBody>
      </p:sp>
      <p:sp>
        <p:nvSpPr>
          <p:cNvPr id="11" name="right"/>
          <p:cNvSpPr/>
          <p:nvPr/>
        </p:nvSpPr>
        <p:spPr>
          <a:xfrm>
            <a:off x="6537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3FB98A"/>
                </a:solidFill>
                <a:latin typeface="Unbounded"/>
              </a:rPr>
              <a:t>PROJECT 3</a:t>
            </a:r>
          </a:p>
          <a:p>
            <a:pPr algn="l">
              <a:lnSpc>
                <a:spcPct val="120000"/>
              </a:lnSpc>
              <a:spcAft>
                <a:spcPts val="1000"/>
              </a:spcAft>
            </a:pPr>
            <a:r>
              <a:rPr sz="1700" b="0">
                <a:solidFill>
                  <a:srgbClr val="ECF8EF"/>
                </a:solidFill>
                <a:latin typeface="Unbounded"/>
              </a:rPr>
              <a:t>—  Forecasts VaR and ES</a:t>
            </a:r>
          </a:p>
          <a:p>
            <a:pPr algn="l">
              <a:lnSpc>
                <a:spcPct val="120000"/>
              </a:lnSpc>
              <a:spcAft>
                <a:spcPts val="1000"/>
              </a:spcAft>
            </a:pPr>
            <a:r>
              <a:rPr sz="1700" b="0">
                <a:solidFill>
                  <a:srgbClr val="ECF8EF"/>
                </a:solidFill>
                <a:latin typeface="Unbounded"/>
              </a:rPr>
              <a:t>—  6 models refitted monthly</a:t>
            </a:r>
          </a:p>
          <a:p>
            <a:pPr algn="l">
              <a:lnSpc>
                <a:spcPct val="120000"/>
              </a:lnSpc>
              <a:spcAft>
                <a:spcPts val="1000"/>
              </a:spcAft>
            </a:pPr>
            <a:r>
              <a:rPr sz="1700" b="0">
                <a:solidFill>
                  <a:srgbClr val="ECF8EF"/>
                </a:solidFill>
                <a:latin typeface="Unbounded"/>
              </a:rPr>
              <a:t>—  20 development + 27 untouched test stocks</a:t>
            </a:r>
          </a:p>
          <a:p>
            <a:pPr algn="l">
              <a:lnSpc>
                <a:spcPct val="120000"/>
              </a:lnSpc>
              <a:spcAft>
                <a:spcPts val="1000"/>
              </a:spcAft>
            </a:pPr>
            <a:r>
              <a:rPr sz="1700" b="0">
                <a:solidFill>
                  <a:srgbClr val="ECF8EF"/>
                </a:solidFill>
                <a:latin typeface="Unbounded"/>
              </a:rPr>
              <a:t>—  Significance tests and 4 backtests</a:t>
            </a:r>
          </a:p>
          <a:p>
            <a:pPr algn="l">
              <a:lnSpc>
                <a:spcPct val="120000"/>
              </a:lnSpc>
              <a:spcAft>
                <a:spcPts val="1000"/>
              </a:spcAft>
            </a:pPr>
            <a:r>
              <a:rPr sz="1700" b="0">
                <a:solidFill>
                  <a:srgbClr val="ECF8EF"/>
                </a:solidFill>
                <a:latin typeface="Unbounded"/>
              </a:rPr>
              <a:t>—  Public pre-registration, 137 tests</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entr" presetSubtype="0" fill="hold" grpId="0" nodeType="withEffect">
                                  <p:stCondLst>
                                    <p:cond delay="10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75"/>
                                        <p:tgtEl>
                                          <p:spTgt spid="11"/>
                                        </p:tgtEl>
                                      </p:cBhvr>
                                    </p:animEffect>
                                    <p:anim calcmode="lin" valueType="num">
                                      <p:cBhvr additive="base">
                                        <p:cTn id="16" dur="875" decel="100000" fill="hold"/>
                                        <p:tgtEl>
                                          <p:spTgt spid="11"/>
                                        </p:tgtEl>
                                        <p:attrNameLst>
                                          <p:attrName>ppt_y</p:attrName>
                                        </p:attrNameLst>
                                      </p:cBhvr>
                                      <p:tavLst>
                                        <p:tav tm="0">
                                          <p:val>
                                            <p:strVal val="#ppt_y+0.035"/>
                                          </p:val>
                                        </p:tav>
                                        <p:tav tm="100000">
                                          <p:val>
                                            <p:strVal val="#ppt_y"/>
                                          </p:val>
                                        </p:tav>
                                      </p:tavLst>
                                    </p:anim>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4754880" y="2157984"/>
            <a:ext cx="11704320" cy="4096512"/>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4251960" y="-1636776"/>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8138160" y="0"/>
            <a:ext cx="4053535" cy="6858000"/>
          </a:xfrm>
          <a:prstGeom prst="rect">
            <a:avLst/>
          </a:prstGeom>
          <a:solidFill>
            <a:srgbClr val="15372E">
              <a:alpha val="90000"/>
            </a:srgbClr>
          </a:solidFill>
          <a:ln>
            <a:noFill/>
          </a:ln>
        </p:spPr>
        <p:txBody>
          <a:bodyPr rtlCol="0" anchor="ctr"/>
          <a:lstStyle/>
          <a:p>
            <a:pPr algn="ctr"/>
          </a:p>
        </p:txBody>
      </p:sp>
      <p:sp>
        <p:nvSpPr>
          <p:cNvPr id="4" name="!!ring"/>
          <p:cNvSpPr/>
          <p:nvPr/>
        </p:nvSpPr>
        <p:spPr>
          <a:xfrm rot="14100000">
            <a:off x="8321040" y="1325880"/>
            <a:ext cx="4206240" cy="420624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7927848" y="1097280"/>
            <a:ext cx="1106424" cy="5029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8288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7837518"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640080"/>
            <a:ext cx="6949440" cy="109728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The idea we tested: level drift</a:t>
            </a:r>
          </a:p>
        </p:txBody>
      </p:sp>
      <p:sp>
        <p:nvSpPr>
          <p:cNvPr id="10" name="dot0"/>
          <p:cNvSpPr/>
          <p:nvPr/>
        </p:nvSpPr>
        <p:spPr>
          <a:xfrm>
            <a:off x="841248" y="2336292"/>
            <a:ext cx="128016" cy="128016"/>
          </a:xfrm>
          <a:prstGeom prst="ellipse">
            <a:avLst/>
          </a:prstGeom>
          <a:solidFill>
            <a:srgbClr val="B6F36B"/>
          </a:solidFill>
          <a:ln>
            <a:noFill/>
          </a:ln>
        </p:spPr>
        <p:txBody>
          <a:bodyPr rtlCol="0" anchor="ctr"/>
          <a:lstStyle/>
          <a:p>
            <a:pPr algn="ctr"/>
          </a:p>
        </p:txBody>
      </p:sp>
      <p:sp>
        <p:nvSpPr>
          <p:cNvPr id="11" name="point0"/>
          <p:cNvSpPr txBox="1"/>
          <p:nvPr/>
        </p:nvSpPr>
        <p:spPr>
          <a:xfrm>
            <a:off x="1234440" y="2240280"/>
            <a:ext cx="6309360" cy="713232"/>
          </a:xfrm>
          <a:prstGeom prst="rect">
            <a:avLst/>
          </a:prstGeom>
          <a:noFill/>
        </p:spPr>
        <p:txBody>
          <a:bodyPr wrap="square" anchor="t" lIns="0" rIns="0" tIns="0" bIns="0">
            <a:noAutofit/>
          </a:bodyPr>
          <a:lstStyle/>
          <a:p>
            <a:pPr algn="l">
              <a:lnSpc>
                <a:spcPct val="120000"/>
              </a:lnSpc>
            </a:pPr>
            <a:r>
              <a:rPr sz="1800" b="0">
                <a:solidFill>
                  <a:srgbClr val="ECF8EF"/>
                </a:solidFill>
                <a:latin typeface="Unbounded"/>
              </a:rPr>
              <a:t>The gate learns its scale factor g from its training years.</a:t>
            </a:r>
          </a:p>
        </p:txBody>
      </p:sp>
      <p:sp>
        <p:nvSpPr>
          <p:cNvPr id="12" name="dot1"/>
          <p:cNvSpPr/>
          <p:nvPr/>
        </p:nvSpPr>
        <p:spPr>
          <a:xfrm>
            <a:off x="841248" y="3140964"/>
            <a:ext cx="128016" cy="128016"/>
          </a:xfrm>
          <a:prstGeom prst="ellipse">
            <a:avLst/>
          </a:prstGeom>
          <a:solidFill>
            <a:srgbClr val="3FB98A"/>
          </a:solidFill>
          <a:ln>
            <a:noFill/>
          </a:ln>
        </p:spPr>
        <p:txBody>
          <a:bodyPr rtlCol="0" anchor="ctr"/>
          <a:lstStyle/>
          <a:p>
            <a:pPr algn="ctr"/>
          </a:p>
        </p:txBody>
      </p:sp>
      <p:sp>
        <p:nvSpPr>
          <p:cNvPr id="13" name="point1"/>
          <p:cNvSpPr txBox="1"/>
          <p:nvPr/>
        </p:nvSpPr>
        <p:spPr>
          <a:xfrm>
            <a:off x="1234440" y="3044952"/>
            <a:ext cx="6309360" cy="713232"/>
          </a:xfrm>
          <a:prstGeom prst="rect">
            <a:avLst/>
          </a:prstGeom>
          <a:noFill/>
        </p:spPr>
        <p:txBody>
          <a:bodyPr wrap="square" anchor="t" lIns="0" rIns="0" tIns="0" bIns="0">
            <a:noAutofit/>
          </a:bodyPr>
          <a:lstStyle/>
          <a:p>
            <a:pPr algn="l">
              <a:lnSpc>
                <a:spcPct val="120000"/>
              </a:lnSpc>
            </a:pPr>
            <a:r>
              <a:rPr sz="1800" b="0">
                <a:solidFill>
                  <a:srgbClr val="ECF8EF"/>
                </a:solidFill>
                <a:latin typeface="Unbounded"/>
              </a:rPr>
              <a:t>After COVID, the base models over-forecast risk, so the gate learned to shrink it.</a:t>
            </a:r>
          </a:p>
        </p:txBody>
      </p:sp>
      <p:sp>
        <p:nvSpPr>
          <p:cNvPr id="14" name="dot2"/>
          <p:cNvSpPr/>
          <p:nvPr/>
        </p:nvSpPr>
        <p:spPr>
          <a:xfrm>
            <a:off x="841248" y="3945636"/>
            <a:ext cx="128016" cy="128016"/>
          </a:xfrm>
          <a:prstGeom prst="ellipse">
            <a:avLst/>
          </a:prstGeom>
          <a:solidFill>
            <a:srgbClr val="B6F36B"/>
          </a:solidFill>
          <a:ln>
            <a:noFill/>
          </a:ln>
        </p:spPr>
        <p:txBody>
          <a:bodyPr rtlCol="0" anchor="ctr"/>
          <a:lstStyle/>
          <a:p>
            <a:pPr algn="ctr"/>
          </a:p>
        </p:txBody>
      </p:sp>
      <p:sp>
        <p:nvSpPr>
          <p:cNvPr id="15" name="point2"/>
          <p:cNvSpPr txBox="1"/>
          <p:nvPr/>
        </p:nvSpPr>
        <p:spPr>
          <a:xfrm>
            <a:off x="1234440" y="3849624"/>
            <a:ext cx="6309360" cy="713232"/>
          </a:xfrm>
          <a:prstGeom prst="rect">
            <a:avLst/>
          </a:prstGeom>
          <a:noFill/>
        </p:spPr>
        <p:txBody>
          <a:bodyPr wrap="square" anchor="t" lIns="0" rIns="0" tIns="0" bIns="0">
            <a:noAutofit/>
          </a:bodyPr>
          <a:lstStyle/>
          <a:p>
            <a:pPr algn="l">
              <a:lnSpc>
                <a:spcPct val="120000"/>
              </a:lnSpc>
            </a:pPr>
            <a:r>
              <a:rPr sz="1800" b="0">
                <a:solidFill>
                  <a:srgbClr val="ECF8EF"/>
                </a:solidFill>
                <a:latin typeface="Unbounded"/>
              </a:rPr>
              <a:t>Later, conditions changed, but the learned shrinking stayed.</a:t>
            </a:r>
          </a:p>
        </p:txBody>
      </p:sp>
      <p:sp>
        <p:nvSpPr>
          <p:cNvPr id="16" name="dot3"/>
          <p:cNvSpPr/>
          <p:nvPr/>
        </p:nvSpPr>
        <p:spPr>
          <a:xfrm>
            <a:off x="841248" y="4750308"/>
            <a:ext cx="128016" cy="128016"/>
          </a:xfrm>
          <a:prstGeom prst="ellipse">
            <a:avLst/>
          </a:prstGeom>
          <a:solidFill>
            <a:srgbClr val="3FB98A"/>
          </a:solidFill>
          <a:ln>
            <a:noFill/>
          </a:ln>
        </p:spPr>
        <p:txBody>
          <a:bodyPr rtlCol="0" anchor="ctr"/>
          <a:lstStyle/>
          <a:p>
            <a:pPr algn="ctr"/>
          </a:p>
        </p:txBody>
      </p:sp>
      <p:sp>
        <p:nvSpPr>
          <p:cNvPr id="17" name="point3"/>
          <p:cNvSpPr txBox="1"/>
          <p:nvPr/>
        </p:nvSpPr>
        <p:spPr>
          <a:xfrm>
            <a:off x="1234440" y="4654296"/>
            <a:ext cx="6309360" cy="713232"/>
          </a:xfrm>
          <a:prstGeom prst="rect">
            <a:avLst/>
          </a:prstGeom>
          <a:noFill/>
        </p:spPr>
        <p:txBody>
          <a:bodyPr wrap="square" anchor="t" lIns="0" rIns="0" tIns="0" bIns="0">
            <a:noAutofit/>
          </a:bodyPr>
          <a:lstStyle/>
          <a:p>
            <a:pPr algn="l">
              <a:lnSpc>
                <a:spcPct val="120000"/>
              </a:lnSpc>
            </a:pPr>
            <a:r>
              <a:rPr sz="1800" b="0">
                <a:solidFill>
                  <a:srgbClr val="ECF8EF"/>
                </a:solidFill>
                <a:latin typeface="Unbounded"/>
              </a:rPr>
              <a:t>Result: too little reported risk, and losses cross VaR too often.</a:t>
            </a:r>
          </a:p>
        </p:txBody>
      </p:sp>
      <p:sp>
        <p:nvSpPr>
          <p:cNvPr id="18" name="dot4"/>
          <p:cNvSpPr/>
          <p:nvPr/>
        </p:nvSpPr>
        <p:spPr>
          <a:xfrm>
            <a:off x="841248" y="5554980"/>
            <a:ext cx="128016" cy="128016"/>
          </a:xfrm>
          <a:prstGeom prst="ellipse">
            <a:avLst/>
          </a:prstGeom>
          <a:solidFill>
            <a:srgbClr val="B6F36B"/>
          </a:solidFill>
          <a:ln>
            <a:noFill/>
          </a:ln>
        </p:spPr>
        <p:txBody>
          <a:bodyPr rtlCol="0" anchor="ctr"/>
          <a:lstStyle/>
          <a:p>
            <a:pPr algn="ctr"/>
          </a:p>
        </p:txBody>
      </p:sp>
      <p:sp>
        <p:nvSpPr>
          <p:cNvPr id="19" name="point4"/>
          <p:cNvSpPr txBox="1"/>
          <p:nvPr/>
        </p:nvSpPr>
        <p:spPr>
          <a:xfrm>
            <a:off x="1234440" y="5458968"/>
            <a:ext cx="6309360" cy="713232"/>
          </a:xfrm>
          <a:prstGeom prst="rect">
            <a:avLst/>
          </a:prstGeom>
          <a:noFill/>
        </p:spPr>
        <p:txBody>
          <a:bodyPr wrap="square" anchor="t" lIns="0" rIns="0" tIns="0" bIns="0">
            <a:noAutofit/>
          </a:bodyPr>
          <a:lstStyle/>
          <a:p>
            <a:pPr algn="l">
              <a:lnSpc>
                <a:spcPct val="120000"/>
              </a:lnSpc>
            </a:pPr>
            <a:r>
              <a:rPr sz="1800" b="0">
                <a:solidFill>
                  <a:srgbClr val="ECF8EF"/>
                </a:solidFill>
                <a:latin typeface="Unbounded"/>
              </a:rPr>
              <a:t>Fix: a penalty that keeps g close to 1, called level control.</a:t>
            </a:r>
          </a:p>
        </p:txBody>
      </p:sp>
      <p:sp>
        <p:nvSpPr>
          <p:cNvPr id="20" name="aside"/>
          <p:cNvSpPr txBox="1"/>
          <p:nvPr/>
        </p:nvSpPr>
        <p:spPr>
          <a:xfrm>
            <a:off x="8686800" y="2377440"/>
            <a:ext cx="3108960" cy="2194560"/>
          </a:xfrm>
          <a:prstGeom prst="rect">
            <a:avLst/>
          </a:prstGeom>
          <a:noFill/>
        </p:spPr>
        <p:txBody>
          <a:bodyPr wrap="square" anchor="ctr" lIns="0" rIns="0" tIns="0" bIns="0">
            <a:noAutofit/>
          </a:bodyPr>
          <a:lstStyle/>
          <a:p>
            <a:pPr algn="ctr">
              <a:lnSpc>
                <a:spcPct val="102000"/>
              </a:lnSpc>
            </a:pPr>
            <a:r>
              <a:rPr sz="3000" b="1">
                <a:solidFill>
                  <a:srgbClr val="ECF8EF"/>
                </a:solidFill>
                <a:latin typeface="Unbounded"/>
              </a:rPr>
              <a:t>Learned level, stale world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500"/>
                                        <p:tgtEl>
                                          <p:spTgt spid="10"/>
                                        </p:tgtEl>
                                      </p:cBhvr>
                                    </p:animEffect>
                                    <p:anim calcmode="lin" valueType="num">
                                      <p:cBhvr additive="base">
                                        <p:cTn id="12" dur="5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500" decel="100000" fill="hold"/>
                                        <p:tgtEl>
                                          <p:spTgt spid="10"/>
                                        </p:tgtEl>
                                        <p:attrNameLst>
                                          <p:attrName>ppt_h</p:attrName>
                                        </p:attrNameLst>
                                      </p:cBhvr>
                                      <p:tavLst>
                                        <p:tav tm="0">
                                          <p:val>
                                            <p:strVal val="#ppt_h*0.8"/>
                                          </p:val>
                                        </p:tav>
                                        <p:tav tm="100000">
                                          <p:val>
                                            <p:strVal val="#ppt_h"/>
                                          </p:val>
                                        </p:tav>
                                      </p:tavLst>
                                    </p:anim>
                                  </p:childTnLst>
                                </p:cTn>
                              </p:par>
                              <p:par>
                                <p:cTn id="14" presetID="42" presetClass="entr" presetSubtype="0" fill="hold" grpId="0" nodeType="withEffect">
                                  <p:stCondLst>
                                    <p:cond delay="742"/>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anim calcmode="lin" valueType="num">
                                      <p:cBhvr additive="base">
                                        <p:cTn id="17" dur="750" decel="100000" fill="hold"/>
                                        <p:tgtEl>
                                          <p:spTgt spid="11"/>
                                        </p:tgtEl>
                                        <p:attrNameLst>
                                          <p:attrName>ppt_y</p:attrName>
                                        </p:attrNameLst>
                                      </p:cBhvr>
                                      <p:tavLst>
                                        <p:tav tm="0">
                                          <p:val>
                                            <p:strVal val="#ppt_y+0.035"/>
                                          </p:val>
                                        </p:tav>
                                        <p:tav tm="100000">
                                          <p:val>
                                            <p:strVal val="#ppt_y"/>
                                          </p:val>
                                        </p:tav>
                                      </p:tavLst>
                                    </p:anim>
                                  </p:childTnLst>
                                </p:cTn>
                              </p:par>
                              <p:par>
                                <p:cTn id="18" presetID="53" presetClass="entr" presetSubtype="16" fill="hold" grpId="0" nodeType="withEffect">
                                  <p:stCondLst>
                                    <p:cond delay="972"/>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500"/>
                                        <p:tgtEl>
                                          <p:spTgt spid="12"/>
                                        </p:tgtEl>
                                      </p:cBhvr>
                                    </p:animEffect>
                                    <p:anim calcmode="lin" valueType="num">
                                      <p:cBhvr additive="base">
                                        <p:cTn id="21" dur="500" decel="100000" fill="hold"/>
                                        <p:tgtEl>
                                          <p:spTgt spid="12"/>
                                        </p:tgtEl>
                                        <p:attrNameLst>
                                          <p:attrName>ppt_w</p:attrName>
                                        </p:attrNameLst>
                                      </p:cBhvr>
                                      <p:tavLst>
                                        <p:tav tm="0">
                                          <p:val>
                                            <p:strVal val="#ppt_w*0.8"/>
                                          </p:val>
                                        </p:tav>
                                        <p:tav tm="100000">
                                          <p:val>
                                            <p:strVal val="#ppt_w"/>
                                          </p:val>
                                        </p:tav>
                                      </p:tavLst>
                                    </p:anim>
                                    <p:anim calcmode="lin" valueType="num">
                                      <p:cBhvr additive="base">
                                        <p:cTn id="22" dur="500" decel="100000" fill="hold"/>
                                        <p:tgtEl>
                                          <p:spTgt spid="12"/>
                                        </p:tgtEl>
                                        <p:attrNameLst>
                                          <p:attrName>ppt_h</p:attrName>
                                        </p:attrNameLst>
                                      </p:cBhvr>
                                      <p:tavLst>
                                        <p:tav tm="0">
                                          <p:val>
                                            <p:strVal val="#ppt_h*0.8"/>
                                          </p:val>
                                        </p:tav>
                                        <p:tav tm="100000">
                                          <p:val>
                                            <p:strVal val="#ppt_h"/>
                                          </p:val>
                                        </p:tav>
                                      </p:tavLst>
                                    </p:anim>
                                  </p:childTnLst>
                                </p:cTn>
                              </p:par>
                              <p:par>
                                <p:cTn id="23" presetID="42" presetClass="entr" presetSubtype="0" fill="hold" grpId="0" nodeType="withEffect">
                                  <p:stCondLst>
                                    <p:cond delay="1039"/>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750"/>
                                        <p:tgtEl>
                                          <p:spTgt spid="13"/>
                                        </p:tgtEl>
                                      </p:cBhvr>
                                    </p:animEffect>
                                    <p:anim calcmode="lin" valueType="num">
                                      <p:cBhvr additive="base">
                                        <p:cTn id="26" dur="750" decel="100000" fill="hold"/>
                                        <p:tgtEl>
                                          <p:spTgt spid="13"/>
                                        </p:tgtEl>
                                        <p:attrNameLst>
                                          <p:attrName>ppt_y</p:attrName>
                                        </p:attrNameLst>
                                      </p:cBhvr>
                                      <p:tavLst>
                                        <p:tav tm="0">
                                          <p:val>
                                            <p:strVal val="#ppt_y+0.035"/>
                                          </p:val>
                                        </p:tav>
                                        <p:tav tm="100000">
                                          <p:val>
                                            <p:strVal val="#ppt_y"/>
                                          </p:val>
                                        </p:tav>
                                      </p:tavLst>
                                    </p:anim>
                                  </p:childTnLst>
                                </p:cTn>
                              </p:par>
                              <p:par>
                                <p:cTn id="27" presetID="53" presetClass="entr" presetSubtype="16" fill="hold" grpId="0" nodeType="withEffect">
                                  <p:stCondLst>
                                    <p:cond delay="1269"/>
                                  </p:stCondLst>
                                  <p:childTnLst>
                                    <p:set>
                                      <p:cBhvr>
                                        <p:cTn id="28" dur="1" fill="hold">
                                          <p:stCondLst>
                                            <p:cond delay="0"/>
                                          </p:stCondLst>
                                        </p:cTn>
                                        <p:tgtEl>
                                          <p:spTgt spid="14"/>
                                        </p:tgtEl>
                                        <p:attrNameLst>
                                          <p:attrName>style.visibility</p:attrName>
                                        </p:attrNameLst>
                                      </p:cBhvr>
                                      <p:to>
                                        <p:strVal val="visible"/>
                                      </p:to>
                                    </p:set>
                                    <p:animEffect transition="in" filter="fade">
                                      <p:cBhvr>
                                        <p:cTn id="29" dur="500"/>
                                        <p:tgtEl>
                                          <p:spTgt spid="14"/>
                                        </p:tgtEl>
                                      </p:cBhvr>
                                    </p:animEffect>
                                    <p:anim calcmode="lin" valueType="num">
                                      <p:cBhvr additive="base">
                                        <p:cTn id="30" dur="500" decel="100000" fill="hold"/>
                                        <p:tgtEl>
                                          <p:spTgt spid="14"/>
                                        </p:tgtEl>
                                        <p:attrNameLst>
                                          <p:attrName>ppt_w</p:attrName>
                                        </p:attrNameLst>
                                      </p:cBhvr>
                                      <p:tavLst>
                                        <p:tav tm="0">
                                          <p:val>
                                            <p:strVal val="#ppt_w*0.8"/>
                                          </p:val>
                                        </p:tav>
                                        <p:tav tm="100000">
                                          <p:val>
                                            <p:strVal val="#ppt_w"/>
                                          </p:val>
                                        </p:tav>
                                      </p:tavLst>
                                    </p:anim>
                                    <p:anim calcmode="lin" valueType="num">
                                      <p:cBhvr additive="base">
                                        <p:cTn id="31" dur="500" decel="100000" fill="hold"/>
                                        <p:tgtEl>
                                          <p:spTgt spid="14"/>
                                        </p:tgtEl>
                                        <p:attrNameLst>
                                          <p:attrName>ppt_h</p:attrName>
                                        </p:attrNameLst>
                                      </p:cBhvr>
                                      <p:tavLst>
                                        <p:tav tm="0">
                                          <p:val>
                                            <p:strVal val="#ppt_h*0.8"/>
                                          </p:val>
                                        </p:tav>
                                        <p:tav tm="100000">
                                          <p:val>
                                            <p:strVal val="#ppt_h"/>
                                          </p:val>
                                        </p:tav>
                                      </p:tavLst>
                                    </p:anim>
                                  </p:childTnLst>
                                </p:cTn>
                              </p:par>
                              <p:par>
                                <p:cTn id="32" presetID="42" presetClass="entr" presetSubtype="0" fill="hold" grpId="0" nodeType="withEffect">
                                  <p:stCondLst>
                                    <p:cond delay="1336"/>
                                  </p:stCondLst>
                                  <p:childTnLst>
                                    <p:set>
                                      <p:cBhvr>
                                        <p:cTn id="33" dur="1" fill="hold">
                                          <p:stCondLst>
                                            <p:cond delay="0"/>
                                          </p:stCondLst>
                                        </p:cTn>
                                        <p:tgtEl>
                                          <p:spTgt spid="15"/>
                                        </p:tgtEl>
                                        <p:attrNameLst>
                                          <p:attrName>style.visibility</p:attrName>
                                        </p:attrNameLst>
                                      </p:cBhvr>
                                      <p:to>
                                        <p:strVal val="visible"/>
                                      </p:to>
                                    </p:set>
                                    <p:animEffect transition="in" filter="fade">
                                      <p:cBhvr>
                                        <p:cTn id="34" dur="750"/>
                                        <p:tgtEl>
                                          <p:spTgt spid="15"/>
                                        </p:tgtEl>
                                      </p:cBhvr>
                                    </p:animEffect>
                                    <p:anim calcmode="lin" valueType="num">
                                      <p:cBhvr additive="base">
                                        <p:cTn id="35" dur="750" decel="100000" fill="hold"/>
                                        <p:tgtEl>
                                          <p:spTgt spid="15"/>
                                        </p:tgtEl>
                                        <p:attrNameLst>
                                          <p:attrName>ppt_y</p:attrName>
                                        </p:attrNameLst>
                                      </p:cBhvr>
                                      <p:tavLst>
                                        <p:tav tm="0">
                                          <p:val>
                                            <p:strVal val="#ppt_y+0.035"/>
                                          </p:val>
                                        </p:tav>
                                        <p:tav tm="100000">
                                          <p:val>
                                            <p:strVal val="#ppt_y"/>
                                          </p:val>
                                        </p:tav>
                                      </p:tavLst>
                                    </p:anim>
                                  </p:childTnLst>
                                </p:cTn>
                              </p:par>
                              <p:par>
                                <p:cTn id="36" presetID="53" presetClass="entr" presetSubtype="16" fill="hold" grpId="0" nodeType="withEffect">
                                  <p:stCondLst>
                                    <p:cond delay="1566"/>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anim calcmode="lin" valueType="num">
                                      <p:cBhvr additive="base">
                                        <p:cTn id="39" dur="500" decel="100000" fill="hold"/>
                                        <p:tgtEl>
                                          <p:spTgt spid="16"/>
                                        </p:tgtEl>
                                        <p:attrNameLst>
                                          <p:attrName>ppt_w</p:attrName>
                                        </p:attrNameLst>
                                      </p:cBhvr>
                                      <p:tavLst>
                                        <p:tav tm="0">
                                          <p:val>
                                            <p:strVal val="#ppt_w*0.8"/>
                                          </p:val>
                                        </p:tav>
                                        <p:tav tm="100000">
                                          <p:val>
                                            <p:strVal val="#ppt_w"/>
                                          </p:val>
                                        </p:tav>
                                      </p:tavLst>
                                    </p:anim>
                                    <p:anim calcmode="lin" valueType="num">
                                      <p:cBhvr additive="base">
                                        <p:cTn id="40" dur="500" decel="100000" fill="hold"/>
                                        <p:tgtEl>
                                          <p:spTgt spid="16"/>
                                        </p:tgtEl>
                                        <p:attrNameLst>
                                          <p:attrName>ppt_h</p:attrName>
                                        </p:attrNameLst>
                                      </p:cBhvr>
                                      <p:tavLst>
                                        <p:tav tm="0">
                                          <p:val>
                                            <p:strVal val="#ppt_h*0.8"/>
                                          </p:val>
                                        </p:tav>
                                        <p:tav tm="100000">
                                          <p:val>
                                            <p:strVal val="#ppt_h"/>
                                          </p:val>
                                        </p:tav>
                                      </p:tavLst>
                                    </p:anim>
                                  </p:childTnLst>
                                </p:cTn>
                              </p:par>
                              <p:par>
                                <p:cTn id="41" presetID="42" presetClass="entr" presetSubtype="0" fill="hold" grpId="0" nodeType="withEffect">
                                  <p:stCondLst>
                                    <p:cond delay="1633"/>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750"/>
                                        <p:tgtEl>
                                          <p:spTgt spid="17"/>
                                        </p:tgtEl>
                                      </p:cBhvr>
                                    </p:animEffect>
                                    <p:anim calcmode="lin" valueType="num">
                                      <p:cBhvr additive="base">
                                        <p:cTn id="44" dur="750" decel="100000" fill="hold"/>
                                        <p:tgtEl>
                                          <p:spTgt spid="17"/>
                                        </p:tgtEl>
                                        <p:attrNameLst>
                                          <p:attrName>ppt_y</p:attrName>
                                        </p:attrNameLst>
                                      </p:cBhvr>
                                      <p:tavLst>
                                        <p:tav tm="0">
                                          <p:val>
                                            <p:strVal val="#ppt_y+0.035"/>
                                          </p:val>
                                        </p:tav>
                                        <p:tav tm="100000">
                                          <p:val>
                                            <p:strVal val="#ppt_y"/>
                                          </p:val>
                                        </p:tav>
                                      </p:tavLst>
                                    </p:anim>
                                  </p:childTnLst>
                                </p:cTn>
                              </p:par>
                              <p:par>
                                <p:cTn id="45" presetID="53" presetClass="entr" presetSubtype="16" fill="hold" grpId="0" nodeType="withEffect">
                                  <p:stCondLst>
                                    <p:cond delay="1863"/>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anim calcmode="lin" valueType="num">
                                      <p:cBhvr additive="base">
                                        <p:cTn id="48" dur="500" decel="100000" fill="hold"/>
                                        <p:tgtEl>
                                          <p:spTgt spid="18"/>
                                        </p:tgtEl>
                                        <p:attrNameLst>
                                          <p:attrName>ppt_w</p:attrName>
                                        </p:attrNameLst>
                                      </p:cBhvr>
                                      <p:tavLst>
                                        <p:tav tm="0">
                                          <p:val>
                                            <p:strVal val="#ppt_w*0.8"/>
                                          </p:val>
                                        </p:tav>
                                        <p:tav tm="100000">
                                          <p:val>
                                            <p:strVal val="#ppt_w"/>
                                          </p:val>
                                        </p:tav>
                                      </p:tavLst>
                                    </p:anim>
                                    <p:anim calcmode="lin" valueType="num">
                                      <p:cBhvr additive="base">
                                        <p:cTn id="49" dur="500" decel="100000" fill="hold"/>
                                        <p:tgtEl>
                                          <p:spTgt spid="18"/>
                                        </p:tgtEl>
                                        <p:attrNameLst>
                                          <p:attrName>ppt_h</p:attrName>
                                        </p:attrNameLst>
                                      </p:cBhvr>
                                      <p:tavLst>
                                        <p:tav tm="0">
                                          <p:val>
                                            <p:strVal val="#ppt_h*0.8"/>
                                          </p:val>
                                        </p:tav>
                                        <p:tav tm="100000">
                                          <p:val>
                                            <p:strVal val="#ppt_h"/>
                                          </p:val>
                                        </p:tav>
                                      </p:tavLst>
                                    </p:anim>
                                  </p:childTnLst>
                                </p:cTn>
                              </p:par>
                              <p:par>
                                <p:cTn id="50" presetID="42" presetClass="entr" presetSubtype="0" fill="hold" grpId="0" nodeType="withEffect">
                                  <p:stCondLst>
                                    <p:cond delay="193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750"/>
                                        <p:tgtEl>
                                          <p:spTgt spid="19"/>
                                        </p:tgtEl>
                                      </p:cBhvr>
                                    </p:animEffect>
                                    <p:anim calcmode="lin" valueType="num">
                                      <p:cBhvr additive="base">
                                        <p:cTn id="53" dur="750" decel="100000" fill="hold"/>
                                        <p:tgtEl>
                                          <p:spTgt spid="19"/>
                                        </p:tgtEl>
                                        <p:attrNameLst>
                                          <p:attrName>ppt_y</p:attrName>
                                        </p:attrNameLst>
                                      </p:cBhvr>
                                      <p:tavLst>
                                        <p:tav tm="0">
                                          <p:val>
                                            <p:strVal val="#ppt_y+0.035"/>
                                          </p:val>
                                        </p:tav>
                                        <p:tav tm="100000">
                                          <p:val>
                                            <p:strVal val="#ppt_y"/>
                                          </p:val>
                                        </p:tav>
                                      </p:tavLst>
                                    </p:anim>
                                  </p:childTnLst>
                                </p:cTn>
                              </p:par>
                              <p:par>
                                <p:cTn id="54" presetID="53" presetClass="entr" presetSubtype="16" fill="hold" grpId="0" nodeType="withEffect">
                                  <p:stCondLst>
                                    <p:cond delay="2025"/>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875"/>
                                        <p:tgtEl>
                                          <p:spTgt spid="20"/>
                                        </p:tgtEl>
                                      </p:cBhvr>
                                    </p:animEffect>
                                    <p:anim calcmode="lin" valueType="num">
                                      <p:cBhvr additive="base">
                                        <p:cTn id="57" dur="875" decel="100000" fill="hold"/>
                                        <p:tgtEl>
                                          <p:spTgt spid="20"/>
                                        </p:tgtEl>
                                        <p:attrNameLst>
                                          <p:attrName>ppt_w</p:attrName>
                                        </p:attrNameLst>
                                      </p:cBhvr>
                                      <p:tavLst>
                                        <p:tav tm="0">
                                          <p:val>
                                            <p:strVal val="#ppt_w*0.8"/>
                                          </p:val>
                                        </p:tav>
                                        <p:tav tm="100000">
                                          <p:val>
                                            <p:strVal val="#ppt_w"/>
                                          </p:val>
                                        </p:tav>
                                      </p:tavLst>
                                    </p:anim>
                                    <p:anim calcmode="lin" valueType="num">
                                      <p:cBhvr additive="base">
                                        <p:cTn id="58" dur="875" decel="100000" fill="hold"/>
                                        <p:tgtEl>
                                          <p:spTgt spid="20"/>
                                        </p:tgtEl>
                                        <p:attrNameLst>
                                          <p:attrName>ppt_h</p:attrName>
                                        </p:attrNameLst>
                                      </p:cBhvr>
                                      <p:tavLst>
                                        <p:tav tm="0">
                                          <p:val>
                                            <p:strVal val="#ppt_h*0.8"/>
                                          </p:val>
                                        </p:tav>
                                        <p:tav tm="100000">
                                          <p:val>
                                            <p:strVal val="#ppt_h"/>
                                          </p:val>
                                        </p:tav>
                                      </p:tavLst>
                                    </p:anim>
                                  </p:childTnLst>
                                </p:cTn>
                              </p:par>
                              <p:par>
                                <p:cTn id="59" presetID="42" presetClass="path" presetSubtype="0" accel="50000" decel="50000" repeatCount="indefinite" autoRev="1" fill="hold" grpId="0" nodeType="withEffect">
                                  <p:stCondLst>
                                    <p:cond delay="200"/>
                                  </p:stCondLst>
                                  <p:childTnLst>
                                    <p:animMotion origin="layout" path="M 0 0 L 0 -0.012 E" pathEditMode="relative" ptsTypes="">
                                      <p:cBhvr>
                                        <p:cTn id="60" dur="2600" fill="hold"/>
                                        <p:tgtEl>
                                          <p:spTgt spid="5"/>
                                        </p:tgtEl>
                                        <p:attrNameLst>
                                          <p:attrName>ppt_x</p:attrName>
                                          <p:attrName>ppt_y</p:attrName>
                                        </p:attrNameLst>
                                      </p:cBhvr>
                                    </p:animMotion>
                                  </p:childTnLst>
                                </p:cTn>
                              </p:par>
                              <p:par>
                                <p:cTn id="61" presetID="8" presetClass="emph" presetSubtype="0" accel="50000" decel="50000" repeatCount="indefinite" autoRev="1" fill="hold" grpId="0" nodeType="withEffect">
                                  <p:stCondLst>
                                    <p:cond delay="0"/>
                                  </p:stCondLst>
                                  <p:childTnLst>
                                    <p:animRot by="300000">
                                      <p:cBhvr>
                                        <p:cTn id="62"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P spid="13" grpId="0" animBg="1"/>
      <p:bldP spid="15" grpId="0" animBg="1"/>
      <p:bldP spid="17" grpId="0" animBg="1"/>
      <p:bldP spid="19" grpId="0" animBg="1"/>
      <p:bldP spid="20"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126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8272936"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How the final study was run</a:t>
            </a:r>
          </a:p>
        </p:txBody>
      </p:sp>
      <p:pic>
        <p:nvPicPr>
          <p:cNvPr id="10" name="figure" descr="flow_study.png"/>
          <p:cNvPicPr>
            <a:picLocks noChangeAspect="1"/>
          </p:cNvPicPr>
          <p:nvPr/>
        </p:nvPicPr>
        <p:blipFill>
          <a:blip r:embed="rId2"/>
          <a:srcRect l="3" r="3"/>
          <a:stretch>
            <a:fillRect/>
          </a:stretch>
        </p:blipFill>
        <p:spPr>
          <a:xfrm>
            <a:off x="822960" y="1645920"/>
            <a:ext cx="10545775" cy="4290389"/>
          </a:xfrm>
          <a:prstGeom prst="roundRect">
            <a:avLst>
              <a:gd name="adj" fmla="val 1278"/>
            </a:avLst>
          </a:prstGeom>
        </p:spPr>
      </p:pic>
      <p:sp>
        <p:nvSpPr>
          <p:cNvPr id="11" name="caption"/>
          <p:cNvSpPr txBox="1"/>
          <p:nvPr/>
        </p:nvSpPr>
        <p:spPr>
          <a:xfrm>
            <a:off x="822960" y="6046037"/>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Everything was public on GitHub before the 27 stocks were downloaded.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558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8708354"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05</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What we found</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27 never-used stocks, January 2023 to September 2026</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5715000" y="-2148840"/>
            <a:ext cx="10972800" cy="3840480"/>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3794760" y="5129784"/>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355080"/>
            <a:ext cx="12191695" cy="502920"/>
          </a:xfrm>
          <a:prstGeom prst="rect">
            <a:avLst/>
          </a:prstGeom>
          <a:solidFill>
            <a:srgbClr val="15372E">
              <a:alpha val="60000"/>
            </a:srgbClr>
          </a:solidFill>
          <a:ln>
            <a:noFill/>
          </a:ln>
        </p:spPr>
        <p:txBody>
          <a:bodyPr rtlCol="0" anchor="ctr"/>
          <a:lstStyle/>
          <a:p>
            <a:pPr algn="ctr"/>
          </a:p>
        </p:txBody>
      </p:sp>
      <p:sp>
        <p:nvSpPr>
          <p:cNvPr id="4" name="!!ring"/>
          <p:cNvSpPr/>
          <p:nvPr/>
        </p:nvSpPr>
        <p:spPr>
          <a:xfrm rot="1020000">
            <a:off x="9966960" y="-1463040"/>
            <a:ext cx="3108960" cy="31089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0981944" y="502920"/>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916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9143771"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The four pre-registered hypotheses</a:t>
            </a:r>
          </a:p>
        </p:txBody>
      </p:sp>
      <p:sp>
        <p:nvSpPr>
          <p:cNvPr id="10" name="card0"/>
          <p:cNvSpPr/>
          <p:nvPr/>
        </p:nvSpPr>
        <p:spPr>
          <a:xfrm>
            <a:off x="822960"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01</a:t>
            </a:r>
          </a:p>
          <a:p>
            <a:pPr algn="l">
              <a:lnSpc>
                <a:spcPct val="105000"/>
              </a:lnSpc>
              <a:spcAft>
                <a:spcPts val="1000"/>
              </a:spcAft>
            </a:pPr>
            <a:r>
              <a:rPr sz="1600" b="1">
                <a:solidFill>
                  <a:srgbClr val="ECF8EF"/>
                </a:solidFill>
                <a:latin typeface="Unbounded"/>
              </a:rPr>
              <a:t>H1  HAR beats equal weights</a:t>
            </a:r>
          </a:p>
          <a:p>
            <a:pPr algn="l">
              <a:lnSpc>
                <a:spcPct val="125000"/>
              </a:lnSpc>
            </a:pPr>
            <a:r>
              <a:rPr sz="1700" b="0">
                <a:solidFill>
                  <a:srgbClr val="9CC5B0"/>
                </a:solidFill>
                <a:latin typeface="Unbounded"/>
              </a:rPr>
              <a:t>Not supported. A statistical tie (DM -0.53, adjusted p 0.60).</a:t>
            </a:r>
          </a:p>
        </p:txBody>
      </p:sp>
      <p:sp>
        <p:nvSpPr>
          <p:cNvPr id="11" name="card1"/>
          <p:cNvSpPr/>
          <p:nvPr/>
        </p:nvSpPr>
        <p:spPr>
          <a:xfrm>
            <a:off x="3527984"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02</a:t>
            </a:r>
          </a:p>
          <a:p>
            <a:pPr algn="l">
              <a:lnSpc>
                <a:spcPct val="105000"/>
              </a:lnSpc>
              <a:spcAft>
                <a:spcPts val="1000"/>
              </a:spcAft>
            </a:pPr>
            <a:r>
              <a:rPr sz="1600" b="1">
                <a:solidFill>
                  <a:srgbClr val="ECF8EF"/>
                </a:solidFill>
                <a:latin typeface="Unbounded"/>
              </a:rPr>
              <a:t>H2  HAR beats Taylor's blend</a:t>
            </a:r>
          </a:p>
          <a:p>
            <a:pPr algn="l">
              <a:lnSpc>
                <a:spcPct val="125000"/>
              </a:lnSpc>
            </a:pPr>
            <a:r>
              <a:rPr sz="1700" b="0">
                <a:solidFill>
                  <a:srgbClr val="9CC5B0"/>
                </a:solidFill>
                <a:latin typeface="Unbounded"/>
              </a:rPr>
              <a:t>Not supported. A tie (DM -0.09, adjusted p 0.60).</a:t>
            </a:r>
          </a:p>
        </p:txBody>
      </p:sp>
      <p:sp>
        <p:nvSpPr>
          <p:cNvPr id="12" name="card2"/>
          <p:cNvSpPr/>
          <p:nvPr/>
        </p:nvSpPr>
        <p:spPr>
          <a:xfrm>
            <a:off x="6233008"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03</a:t>
            </a:r>
          </a:p>
          <a:p>
            <a:pPr algn="l">
              <a:lnSpc>
                <a:spcPct val="105000"/>
              </a:lnSpc>
              <a:spcAft>
                <a:spcPts val="1000"/>
              </a:spcAft>
            </a:pPr>
            <a:r>
              <a:rPr sz="1600" b="1">
                <a:solidFill>
                  <a:srgbClr val="ECF8EF"/>
                </a:solidFill>
                <a:latin typeface="Unbounded"/>
              </a:rPr>
              <a:t>H3  HAR beats uncontrolled gate</a:t>
            </a:r>
          </a:p>
          <a:p>
            <a:pPr algn="l">
              <a:lnSpc>
                <a:spcPct val="125000"/>
              </a:lnSpc>
            </a:pPr>
            <a:r>
              <a:rPr sz="1700" b="0">
                <a:solidFill>
                  <a:srgbClr val="9CC5B0"/>
                </a:solidFill>
                <a:latin typeface="Unbounded"/>
              </a:rPr>
              <a:t>Supported. DM -3.47, adjusted p 0.001.</a:t>
            </a:r>
          </a:p>
        </p:txBody>
      </p:sp>
      <p:sp>
        <p:nvSpPr>
          <p:cNvPr id="13" name="card3"/>
          <p:cNvSpPr/>
          <p:nvPr/>
        </p:nvSpPr>
        <p:spPr>
          <a:xfrm>
            <a:off x="8938031" y="2148840"/>
            <a:ext cx="2430704" cy="3794760"/>
          </a:xfrm>
          <a:prstGeom prst="roundRect">
            <a:avLst>
              <a:gd name="adj" fmla="val 9404"/>
            </a:avLst>
          </a:prstGeom>
          <a:solidFill>
            <a:srgbClr val="15372E"/>
          </a:solidFill>
          <a:ln w="9525">
            <a:solidFill>
              <a:srgbClr val="B6F36B">
                <a:alpha val="35000"/>
              </a:srgbClr>
            </a:solidFill>
          </a:ln>
        </p:spPr>
        <p:txBody>
          <a:bodyPr rtlCol="0" anchor="t" wrap="square" lIns="292608" rIns="292608" tIns="292608" bIns="292608">
            <a:noAutofit/>
          </a:bodyPr>
          <a:lstStyle/>
          <a:p>
            <a:pPr algn="l">
              <a:lnSpc>
                <a:spcPct val="100000"/>
              </a:lnSpc>
              <a:spcAft>
                <a:spcPts val="1400"/>
              </a:spcAft>
            </a:pPr>
            <a:r>
              <a:rPr sz="1400" b="1">
                <a:solidFill>
                  <a:srgbClr val="B6F36B"/>
                </a:solidFill>
                <a:latin typeface="Unbounded"/>
              </a:rPr>
              <a:t>04</a:t>
            </a:r>
          </a:p>
          <a:p>
            <a:pPr algn="l">
              <a:lnSpc>
                <a:spcPct val="105000"/>
              </a:lnSpc>
              <a:spcAft>
                <a:spcPts val="1000"/>
              </a:spcAft>
            </a:pPr>
            <a:r>
              <a:rPr sz="1600" b="1">
                <a:solidFill>
                  <a:srgbClr val="ECF8EF"/>
                </a:solidFill>
                <a:latin typeface="Unbounded"/>
              </a:rPr>
              <a:t>H4  Level control beats no control</a:t>
            </a:r>
          </a:p>
          <a:p>
            <a:pPr algn="l">
              <a:lnSpc>
                <a:spcPct val="125000"/>
              </a:lnSpc>
            </a:pPr>
            <a:r>
              <a:rPr sz="1700" b="0">
                <a:solidFill>
                  <a:srgbClr val="9CC5B0"/>
                </a:solidFill>
                <a:latin typeface="Unbounded"/>
              </a:rPr>
              <a:t>Supported. DM -3.19, adjusted p 0.002.</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entr" presetSubtype="0" fill="hold" grpId="0" nodeType="withEffect">
                                  <p:stCondLst>
                                    <p:cond delay="1012"/>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75"/>
                                        <p:tgtEl>
                                          <p:spTgt spid="11"/>
                                        </p:tgtEl>
                                      </p:cBhvr>
                                    </p:animEffect>
                                    <p:anim calcmode="lin" valueType="num">
                                      <p:cBhvr additive="base">
                                        <p:cTn id="16" dur="875" decel="100000" fill="hold"/>
                                        <p:tgtEl>
                                          <p:spTgt spid="11"/>
                                        </p:tgtEl>
                                        <p:attrNameLst>
                                          <p:attrName>ppt_y</p:attrName>
                                        </p:attrNameLst>
                                      </p:cBhvr>
                                      <p:tavLst>
                                        <p:tav tm="0">
                                          <p:val>
                                            <p:strVal val="#ppt_y+0.035"/>
                                          </p:val>
                                        </p:tav>
                                        <p:tav tm="100000">
                                          <p:val>
                                            <p:strVal val="#ppt_y"/>
                                          </p:val>
                                        </p:tav>
                                      </p:tavLst>
                                    </p:anim>
                                  </p:childTnLst>
                                </p:cTn>
                              </p:par>
                              <p:par>
                                <p:cTn id="17" presetID="42" presetClass="entr" presetSubtype="0" fill="hold" grpId="0" nodeType="withEffect">
                                  <p:stCondLst>
                                    <p:cond delay="135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875"/>
                                        <p:tgtEl>
                                          <p:spTgt spid="12"/>
                                        </p:tgtEl>
                                      </p:cBhvr>
                                    </p:animEffect>
                                    <p:anim calcmode="lin" valueType="num">
                                      <p:cBhvr additive="base">
                                        <p:cTn id="20" dur="875" decel="100000" fill="hold"/>
                                        <p:tgtEl>
                                          <p:spTgt spid="12"/>
                                        </p:tgtEl>
                                        <p:attrNameLst>
                                          <p:attrName>ppt_y</p:attrName>
                                        </p:attrNameLst>
                                      </p:cBhvr>
                                      <p:tavLst>
                                        <p:tav tm="0">
                                          <p:val>
                                            <p:strVal val="#ppt_y+0.035"/>
                                          </p:val>
                                        </p:tav>
                                        <p:tav tm="100000">
                                          <p:val>
                                            <p:strVal val="#ppt_y"/>
                                          </p:val>
                                        </p:tav>
                                      </p:tavLst>
                                    </p:anim>
                                  </p:childTnLst>
                                </p:cTn>
                              </p:par>
                              <p:par>
                                <p:cTn id="21" presetID="42" presetClass="entr" presetSubtype="0" fill="hold" grpId="0" nodeType="withEffect">
                                  <p:stCondLst>
                                    <p:cond delay="1687"/>
                                  </p:stCondLst>
                                  <p:childTnLst>
                                    <p:set>
                                      <p:cBhvr>
                                        <p:cTn id="22" dur="1" fill="hold">
                                          <p:stCondLst>
                                            <p:cond delay="0"/>
                                          </p:stCondLst>
                                        </p:cTn>
                                        <p:tgtEl>
                                          <p:spTgt spid="13"/>
                                        </p:tgtEl>
                                        <p:attrNameLst>
                                          <p:attrName>style.visibility</p:attrName>
                                        </p:attrNameLst>
                                      </p:cBhvr>
                                      <p:to>
                                        <p:strVal val="visible"/>
                                      </p:to>
                                    </p:set>
                                    <p:animEffect transition="in" filter="fade">
                                      <p:cBhvr>
                                        <p:cTn id="23" dur="875"/>
                                        <p:tgtEl>
                                          <p:spTgt spid="13"/>
                                        </p:tgtEl>
                                      </p:cBhvr>
                                    </p:animEffect>
                                    <p:anim calcmode="lin" valueType="num">
                                      <p:cBhvr additive="base">
                                        <p:cTn id="24" dur="875" decel="100000" fill="hold"/>
                                        <p:tgtEl>
                                          <p:spTgt spid="13"/>
                                        </p:tgtEl>
                                        <p:attrNameLst>
                                          <p:attrName>ppt_y</p:attrName>
                                        </p:attrNameLst>
                                      </p:cBhvr>
                                      <p:tavLst>
                                        <p:tav tm="0">
                                          <p:val>
                                            <p:strVal val="#ppt_y+0.035"/>
                                          </p:val>
                                        </p:tav>
                                        <p:tav tm="100000">
                                          <p:val>
                                            <p:strVal val="#ppt_y"/>
                                          </p:val>
                                        </p:tav>
                                      </p:tavLst>
                                    </p:anim>
                                  </p:childTnLst>
                                </p:cTn>
                              </p:par>
                              <p:par>
                                <p:cTn id="25" presetID="42" presetClass="path" presetSubtype="0" accel="50000" decel="50000" repeatCount="indefinite" autoRev="1" fill="hold" grpId="0" nodeType="withEffect">
                                  <p:stCondLst>
                                    <p:cond delay="200"/>
                                  </p:stCondLst>
                                  <p:childTnLst>
                                    <p:animMotion origin="layout" path="M 0 0 L 0 -0.012 E" pathEditMode="relative" ptsTypes="">
                                      <p:cBhvr>
                                        <p:cTn id="26" dur="2600" fill="hold"/>
                                        <p:tgtEl>
                                          <p:spTgt spid="5"/>
                                        </p:tgtEl>
                                        <p:attrNameLst>
                                          <p:attrName>ppt_x</p:attrName>
                                          <p:attrName>ppt_y</p:attrName>
                                        </p:attrNameLst>
                                      </p:cBhvr>
                                    </p:animMotion>
                                  </p:childTnLst>
                                </p:cTn>
                              </p:par>
                              <p:par>
                                <p:cTn id="27" presetID="8" presetClass="emph" presetSubtype="0" accel="50000" decel="50000" repeatCount="indefinite" autoRev="1" fill="hold" grpId="0" nodeType="withEffect">
                                  <p:stCondLst>
                                    <p:cond delay="0"/>
                                  </p:stCondLst>
                                  <p:childTnLst>
                                    <p:animRot by="300000">
                                      <p:cBhvr>
                                        <p:cTn id="28"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P spid="13"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5577840" y="2505456"/>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4251960" y="-2093976"/>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8641080" y="1828800"/>
            <a:ext cx="2743200" cy="4343400"/>
          </a:xfrm>
          <a:prstGeom prst="rect">
            <a:avLst/>
          </a:prstGeom>
          <a:solidFill>
            <a:srgbClr val="15372E">
              <a:alpha val="90000"/>
            </a:srgbClr>
          </a:solidFill>
          <a:ln>
            <a:noFill/>
          </a:ln>
        </p:spPr>
        <p:txBody>
          <a:bodyPr rtlCol="0" anchor="ctr"/>
          <a:lstStyle/>
          <a:p>
            <a:pPr algn="ctr"/>
          </a:p>
        </p:txBody>
      </p:sp>
      <p:sp>
        <p:nvSpPr>
          <p:cNvPr id="4" name="!!ring"/>
          <p:cNvSpPr/>
          <p:nvPr/>
        </p:nvSpPr>
        <p:spPr>
          <a:xfrm rot="900000">
            <a:off x="9235440" y="-1097280"/>
            <a:ext cx="2926080" cy="292608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19104" y="5760720"/>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9579189"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749808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Extra loss compared with the best method</a:t>
            </a:r>
          </a:p>
        </p:txBody>
      </p:sp>
      <p:graphicFrame>
        <p:nvGraphicFramePr>
          <p:cNvPr id="10" name="chart"/>
          <p:cNvGraphicFramePr>
            <a:graphicFrameLocks noGrp="1"/>
          </p:cNvGraphicFramePr>
          <p:nvPr/>
        </p:nvGraphicFramePr>
        <p:xfrm>
          <a:off x="685800" y="1828800"/>
          <a:ext cx="7680960" cy="4434840"/>
        </p:xfrm>
        <a:graphic>
          <a:graphicData uri="http://schemas.openxmlformats.org/drawingml/2006/chart">
            <c:chart xmlns:c="http://schemas.openxmlformats.org/drawingml/2006/chart" r:id="rId2"/>
          </a:graphicData>
        </a:graphic>
      </p:graphicFrame>
      <p:sp>
        <p:nvSpPr>
          <p:cNvPr id="11" name="takeaway"/>
          <p:cNvSpPr txBox="1"/>
          <p:nvPr/>
        </p:nvSpPr>
        <p:spPr>
          <a:xfrm>
            <a:off x="8915400" y="2194560"/>
            <a:ext cx="2194560" cy="2194560"/>
          </a:xfrm>
          <a:prstGeom prst="rect">
            <a:avLst/>
          </a:prstGeom>
          <a:noFill/>
        </p:spPr>
        <p:txBody>
          <a:bodyPr wrap="square" anchor="b" lIns="0" rIns="0" tIns="0" bIns="0">
            <a:noAutofit/>
          </a:bodyPr>
          <a:lstStyle/>
          <a:p>
            <a:pPr algn="l">
              <a:lnSpc>
                <a:spcPct val="102000"/>
              </a:lnSpc>
            </a:pPr>
            <a:r>
              <a:rPr sz="3100" b="1">
                <a:solidFill>
                  <a:srgbClr val="ECF8EF"/>
                </a:solidFill>
                <a:latin typeface="Unbounded"/>
              </a:rPr>
              <a:t>Gaps at the top are tiny</a:t>
            </a:r>
          </a:p>
        </p:txBody>
      </p:sp>
      <p:sp>
        <p:nvSpPr>
          <p:cNvPr id="12" name="source"/>
          <p:cNvSpPr txBox="1"/>
          <p:nvPr/>
        </p:nvSpPr>
        <p:spPr>
          <a:xfrm>
            <a:off x="822960" y="6355080"/>
            <a:ext cx="7315200" cy="320040"/>
          </a:xfrm>
          <a:prstGeom prst="rect">
            <a:avLst/>
          </a:prstGeom>
          <a:noFill/>
        </p:spPr>
        <p:txBody>
          <a:bodyPr wrap="square" anchor="t" lIns="0" rIns="0" tIns="0" bIns="0">
            <a:noAutofit/>
          </a:bodyPr>
          <a:lstStyle/>
          <a:p>
            <a:pPr algn="l">
              <a:lnSpc>
                <a:spcPct val="100000"/>
              </a:lnSpc>
            </a:pPr>
            <a:r>
              <a:rPr sz="900" b="0">
                <a:solidFill>
                  <a:srgbClr val="9CC5B0"/>
                </a:solidFill>
                <a:latin typeface="Unbounded"/>
              </a:rPr>
              <a:t>Source: Pooled over 27 fresh stocks, alpha 2.5%. Our calculation from results/fresh/tables/compare.csv.</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22" presetClass="entr" presetSubtype="8"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wipe(right)">
                                      <p:cBhvr>
                                        <p:cTn id="11" dur="1750"/>
                                        <p:tgtEl>
                                          <p:spTgt spid="10"/>
                                        </p:tgtEl>
                                      </p:cBhvr>
                                    </p:animEffect>
                                  </p:childTnLst>
                                </p:cTn>
                              </p:par>
                              <p:par>
                                <p:cTn id="12" presetID="53" presetClass="entr" presetSubtype="16" fill="hold" grpId="0" nodeType="withEffect">
                                  <p:stCondLst>
                                    <p:cond delay="216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875"/>
                                        <p:tgtEl>
                                          <p:spTgt spid="11"/>
                                        </p:tgtEl>
                                      </p:cBhvr>
                                    </p:animEffect>
                                    <p:anim calcmode="lin" valueType="num">
                                      <p:cBhvr additive="base">
                                        <p:cTn id="15" dur="875" decel="100000" fill="hold"/>
                                        <p:tgtEl>
                                          <p:spTgt spid="11"/>
                                        </p:tgtEl>
                                        <p:attrNameLst>
                                          <p:attrName>ppt_w</p:attrName>
                                        </p:attrNameLst>
                                      </p:cBhvr>
                                      <p:tavLst>
                                        <p:tav tm="0">
                                          <p:val>
                                            <p:strVal val="#ppt_w*0.8"/>
                                          </p:val>
                                        </p:tav>
                                        <p:tav tm="100000">
                                          <p:val>
                                            <p:strVal val="#ppt_w"/>
                                          </p:val>
                                        </p:tav>
                                      </p:tavLst>
                                    </p:anim>
                                    <p:anim calcmode="lin" valueType="num">
                                      <p:cBhvr additive="base">
                                        <p:cTn id="16" dur="875" decel="100000" fill="hold"/>
                                        <p:tgtEl>
                                          <p:spTgt spid="11"/>
                                        </p:tgtEl>
                                        <p:attrNameLst>
                                          <p:attrName>ppt_h</p:attrName>
                                        </p:attrNameLst>
                                      </p:cBhvr>
                                      <p:tavLst>
                                        <p:tav tm="0">
                                          <p:val>
                                            <p:strVal val="#ppt_h*0.8"/>
                                          </p:val>
                                        </p:tav>
                                        <p:tav tm="100000">
                                          <p:val>
                                            <p:strVal val="#ppt_h"/>
                                          </p:val>
                                        </p:tav>
                                      </p:tavLst>
                                    </p:anim>
                                  </p:childTnLst>
                                </p:cTn>
                              </p:par>
                              <p:par>
                                <p:cTn id="17" presetID="10" presetClass="entr" presetSubtype="0" fill="hold" grpId="0" nodeType="withEffect">
                                  <p:stCondLst>
                                    <p:cond delay="27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25"/>
                                        <p:tgtEl>
                                          <p:spTgt spid="12"/>
                                        </p:tgtEl>
                                      </p:cBhvr>
                                    </p:animEffect>
                                  </p:childTnLst>
                                </p:cTn>
                              </p:par>
                              <p:par>
                                <p:cTn id="20" presetID="42" presetClass="path" presetSubtype="0" accel="50000" decel="50000" repeatCount="indefinite" autoRev="1" fill="hold" grpId="0" nodeType="withEffect">
                                  <p:stCondLst>
                                    <p:cond delay="200"/>
                                  </p:stCondLst>
                                  <p:childTnLst>
                                    <p:animMotion origin="layout" path="M 0 0 L 0 -0.012 E" pathEditMode="relative" ptsTypes="">
                                      <p:cBhvr>
                                        <p:cTn id="21" dur="2600" fill="hold"/>
                                        <p:tgtEl>
                                          <p:spTgt spid="5"/>
                                        </p:tgtEl>
                                        <p:attrNameLst>
                                          <p:attrName>ppt_x</p:attrName>
                                          <p:attrName>ppt_y</p:attrName>
                                        </p:attrNameLst>
                                      </p:cBhvr>
                                    </p:animMotion>
                                  </p:childTnLst>
                                </p:cTn>
                              </p:par>
                              <p:par>
                                <p:cTn id="22" presetID="8" presetClass="emph" presetSubtype="0" accel="50000" decel="50000" repeatCount="indefinite" autoRev="1" fill="hold" grpId="0" nodeType="withEffect">
                                  <p:stCondLst>
                                    <p:cond delay="0"/>
                                  </p:stCondLst>
                                  <p:childTnLst>
                                    <p:animRot by="300000">
                                      <p:cBhvr>
                                        <p:cTn id="23"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P spid="11" grpId="0" animBg="1"/>
      <p:bldP spid="12"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5577840" y="2505456"/>
            <a:ext cx="10241280" cy="358444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4251960" y="-2093976"/>
            <a:ext cx="8046720" cy="2816352"/>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8641080" y="1828800"/>
            <a:ext cx="2743200" cy="4343400"/>
          </a:xfrm>
          <a:prstGeom prst="rect">
            <a:avLst/>
          </a:prstGeom>
          <a:solidFill>
            <a:srgbClr val="15372E">
              <a:alpha val="90000"/>
            </a:srgbClr>
          </a:solidFill>
          <a:ln>
            <a:noFill/>
          </a:ln>
        </p:spPr>
        <p:txBody>
          <a:bodyPr rtlCol="0" anchor="ctr"/>
          <a:lstStyle/>
          <a:p>
            <a:pPr algn="ctr"/>
          </a:p>
        </p:txBody>
      </p:sp>
      <p:sp>
        <p:nvSpPr>
          <p:cNvPr id="4" name="!!ring"/>
          <p:cNvSpPr/>
          <p:nvPr/>
        </p:nvSpPr>
        <p:spPr>
          <a:xfrm rot="5220000">
            <a:off x="9235440" y="-1097280"/>
            <a:ext cx="2926080" cy="292608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119104" y="5760720"/>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002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0014607"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749808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Backtests: how often each method failed</a:t>
            </a:r>
          </a:p>
        </p:txBody>
      </p:sp>
      <p:graphicFrame>
        <p:nvGraphicFramePr>
          <p:cNvPr id="10" name="chart"/>
          <p:cNvGraphicFramePr>
            <a:graphicFrameLocks noGrp="1"/>
          </p:cNvGraphicFramePr>
          <p:nvPr/>
        </p:nvGraphicFramePr>
        <p:xfrm>
          <a:off x="685800" y="1828800"/>
          <a:ext cx="7680960" cy="4434840"/>
        </p:xfrm>
        <a:graphic>
          <a:graphicData uri="http://schemas.openxmlformats.org/drawingml/2006/chart">
            <c:chart xmlns:c="http://schemas.openxmlformats.org/drawingml/2006/chart" r:id="rId2"/>
          </a:graphicData>
        </a:graphic>
      </p:graphicFrame>
      <p:sp>
        <p:nvSpPr>
          <p:cNvPr id="11" name="takeaway"/>
          <p:cNvSpPr txBox="1"/>
          <p:nvPr/>
        </p:nvSpPr>
        <p:spPr>
          <a:xfrm>
            <a:off x="8915400" y="2194560"/>
            <a:ext cx="2194560" cy="2194560"/>
          </a:xfrm>
          <a:prstGeom prst="rect">
            <a:avLst/>
          </a:prstGeom>
          <a:noFill/>
        </p:spPr>
        <p:txBody>
          <a:bodyPr wrap="square" anchor="b" lIns="0" rIns="0" tIns="0" bIns="0">
            <a:noAutofit/>
          </a:bodyPr>
          <a:lstStyle/>
          <a:p>
            <a:pPr algn="l">
              <a:lnSpc>
                <a:spcPct val="102000"/>
              </a:lnSpc>
            </a:pPr>
            <a:r>
              <a:rPr sz="1800" b="1">
                <a:solidFill>
                  <a:srgbClr val="ECF8EF"/>
                </a:solidFill>
                <a:latin typeface="Unbounded"/>
              </a:rPr>
              <a:t>Uncontrolled gate fails most</a:t>
            </a:r>
          </a:p>
        </p:txBody>
      </p:sp>
      <p:sp>
        <p:nvSpPr>
          <p:cNvPr id="12" name="source"/>
          <p:cNvSpPr txBox="1"/>
          <p:nvPr/>
        </p:nvSpPr>
        <p:spPr>
          <a:xfrm>
            <a:off x="822960" y="6355080"/>
            <a:ext cx="7315200" cy="320040"/>
          </a:xfrm>
          <a:prstGeom prst="rect">
            <a:avLst/>
          </a:prstGeom>
          <a:noFill/>
        </p:spPr>
        <p:txBody>
          <a:bodyPr wrap="square" anchor="t" lIns="0" rIns="0" tIns="0" bIns="0">
            <a:noAutofit/>
          </a:bodyPr>
          <a:lstStyle/>
          <a:p>
            <a:pPr algn="l">
              <a:lnSpc>
                <a:spcPct val="100000"/>
              </a:lnSpc>
            </a:pPr>
            <a:r>
              <a:rPr sz="900" b="0">
                <a:solidFill>
                  <a:srgbClr val="9CC5B0"/>
                </a:solidFill>
                <a:latin typeface="Unbounded"/>
              </a:rPr>
              <a:t>Source: Number of the 27 fresh stocks rejected at 5%. results/fresh/tables/backtest_rejections.csv and robustness/as_z2_summary.csv.</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22" presetClass="entr" presetSubtype="4"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wipe(up)">
                                      <p:cBhvr>
                                        <p:cTn id="11" dur="1750"/>
                                        <p:tgtEl>
                                          <p:spTgt spid="10"/>
                                        </p:tgtEl>
                                      </p:cBhvr>
                                    </p:animEffect>
                                  </p:childTnLst>
                                </p:cTn>
                              </p:par>
                              <p:par>
                                <p:cTn id="12" presetID="53" presetClass="entr" presetSubtype="16" fill="hold" grpId="0" nodeType="withEffect">
                                  <p:stCondLst>
                                    <p:cond delay="2160"/>
                                  </p:stCondLst>
                                  <p:childTnLst>
                                    <p:set>
                                      <p:cBhvr>
                                        <p:cTn id="13" dur="1" fill="hold">
                                          <p:stCondLst>
                                            <p:cond delay="0"/>
                                          </p:stCondLst>
                                        </p:cTn>
                                        <p:tgtEl>
                                          <p:spTgt spid="11"/>
                                        </p:tgtEl>
                                        <p:attrNameLst>
                                          <p:attrName>style.visibility</p:attrName>
                                        </p:attrNameLst>
                                      </p:cBhvr>
                                      <p:to>
                                        <p:strVal val="visible"/>
                                      </p:to>
                                    </p:set>
                                    <p:animEffect transition="in" filter="fade">
                                      <p:cBhvr>
                                        <p:cTn id="14" dur="875"/>
                                        <p:tgtEl>
                                          <p:spTgt spid="11"/>
                                        </p:tgtEl>
                                      </p:cBhvr>
                                    </p:animEffect>
                                    <p:anim calcmode="lin" valueType="num">
                                      <p:cBhvr additive="base">
                                        <p:cTn id="15" dur="875" decel="100000" fill="hold"/>
                                        <p:tgtEl>
                                          <p:spTgt spid="11"/>
                                        </p:tgtEl>
                                        <p:attrNameLst>
                                          <p:attrName>ppt_w</p:attrName>
                                        </p:attrNameLst>
                                      </p:cBhvr>
                                      <p:tavLst>
                                        <p:tav tm="0">
                                          <p:val>
                                            <p:strVal val="#ppt_w*0.8"/>
                                          </p:val>
                                        </p:tav>
                                        <p:tav tm="100000">
                                          <p:val>
                                            <p:strVal val="#ppt_w"/>
                                          </p:val>
                                        </p:tav>
                                      </p:tavLst>
                                    </p:anim>
                                    <p:anim calcmode="lin" valueType="num">
                                      <p:cBhvr additive="base">
                                        <p:cTn id="16" dur="875" decel="100000" fill="hold"/>
                                        <p:tgtEl>
                                          <p:spTgt spid="11"/>
                                        </p:tgtEl>
                                        <p:attrNameLst>
                                          <p:attrName>ppt_h</p:attrName>
                                        </p:attrNameLst>
                                      </p:cBhvr>
                                      <p:tavLst>
                                        <p:tav tm="0">
                                          <p:val>
                                            <p:strVal val="#ppt_h*0.8"/>
                                          </p:val>
                                        </p:tav>
                                        <p:tav tm="100000">
                                          <p:val>
                                            <p:strVal val="#ppt_h"/>
                                          </p:val>
                                        </p:tav>
                                      </p:tavLst>
                                    </p:anim>
                                  </p:childTnLst>
                                </p:cTn>
                              </p:par>
                              <p:par>
                                <p:cTn id="17" presetID="10" presetClass="entr" presetSubtype="0" fill="hold" grpId="0" nodeType="withEffect">
                                  <p:stCondLst>
                                    <p:cond delay="27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625"/>
                                        <p:tgtEl>
                                          <p:spTgt spid="12"/>
                                        </p:tgtEl>
                                      </p:cBhvr>
                                    </p:animEffect>
                                  </p:childTnLst>
                                </p:cTn>
                              </p:par>
                              <p:par>
                                <p:cTn id="20" presetID="42" presetClass="path" presetSubtype="0" accel="50000" decel="50000" repeatCount="indefinite" autoRev="1" fill="hold" grpId="0" nodeType="withEffect">
                                  <p:stCondLst>
                                    <p:cond delay="200"/>
                                  </p:stCondLst>
                                  <p:childTnLst>
                                    <p:animMotion origin="layout" path="M 0 0 L 0 -0.012 E" pathEditMode="relative" ptsTypes="">
                                      <p:cBhvr>
                                        <p:cTn id="21" dur="2600" fill="hold"/>
                                        <p:tgtEl>
                                          <p:spTgt spid="5"/>
                                        </p:tgtEl>
                                        <p:attrNameLst>
                                          <p:attrName>ppt_x</p:attrName>
                                          <p:attrName>ppt_y</p:attrName>
                                        </p:attrNameLst>
                                      </p:cBhvr>
                                    </p:animMotion>
                                  </p:childTnLst>
                                </p:cTn>
                              </p:par>
                              <p:par>
                                <p:cTn id="22" presetID="8" presetClass="emph" presetSubtype="0" accel="50000" decel="50000" repeatCount="indefinite" autoRev="1" fill="hold" grpId="0" nodeType="withEffect">
                                  <p:stCondLst>
                                    <p:cond delay="0"/>
                                  </p:stCondLst>
                                  <p:childTnLst>
                                    <p:animRot by="300000">
                                      <p:cBhvr>
                                        <p:cTn id="23"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Graphic spid="10" grpId="0">
        <p:bldAsOne/>
      </p:bldGraphic>
      <p:bldP spid="11" grpId="0" animBg="1"/>
      <p:bldP spid="12"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1398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0450024"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Level drift, month by month</a:t>
            </a:r>
          </a:p>
        </p:txBody>
      </p:sp>
      <p:pic>
        <p:nvPicPr>
          <p:cNvPr id="10" name="figure" descr="scale.png"/>
          <p:cNvPicPr>
            <a:picLocks noChangeAspect="1"/>
          </p:cNvPicPr>
          <p:nvPr/>
        </p:nvPicPr>
        <p:blipFill>
          <a:blip r:embed="rId2"/>
          <a:srcRect l="7" r="7"/>
          <a:stretch>
            <a:fillRect/>
          </a:stretch>
        </p:blipFill>
        <p:spPr>
          <a:xfrm>
            <a:off x="1471452" y="1645920"/>
            <a:ext cx="9248790" cy="4709160"/>
          </a:xfrm>
          <a:prstGeom prst="roundRect">
            <a:avLst>
              <a:gd name="adj" fmla="val 1165"/>
            </a:avLst>
          </a:prstGeom>
        </p:spPr>
      </p:pic>
      <p:sp>
        <p:nvSpPr>
          <p:cNvPr id="11" name="caption"/>
          <p:cNvSpPr txBox="1"/>
          <p:nvPr/>
        </p:nvSpPr>
        <p:spPr>
          <a:xfrm>
            <a:off x="822960" y="6464808"/>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Without control: g at 0.90-0.96 in 91% of months. With control: 0.976-1.001.</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280000">
            <a:off x="7360920" y="-2807208"/>
            <a:ext cx="9509760" cy="332841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280000">
            <a:off x="-4572000" y="55778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6446520"/>
            <a:ext cx="12191695" cy="411480"/>
          </a:xfrm>
          <a:prstGeom prst="rect">
            <a:avLst/>
          </a:prstGeom>
          <a:solidFill>
            <a:srgbClr val="15372E">
              <a:alpha val="90000"/>
            </a:srgbClr>
          </a:solidFill>
          <a:ln>
            <a:noFill/>
          </a:ln>
        </p:spPr>
        <p:txBody>
          <a:bodyPr rtlCol="0" anchor="ctr"/>
          <a:lstStyle/>
          <a:p>
            <a:pPr algn="ctr"/>
          </a:p>
        </p:txBody>
      </p:sp>
      <p:sp>
        <p:nvSpPr>
          <p:cNvPr id="4" name="!!ring"/>
          <p:cNvSpPr/>
          <p:nvPr/>
        </p:nvSpPr>
        <p:spPr>
          <a:xfrm rot="18300000">
            <a:off x="-1463040" y="-1737360"/>
            <a:ext cx="2743200" cy="2743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1265408" y="548640"/>
            <a:ext cx="603504" cy="27432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4630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0885442"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000" b="1">
                <a:solidFill>
                  <a:srgbClr val="ECF8EF"/>
                </a:solidFill>
                <a:latin typeface="Unbounded"/>
              </a:rPr>
              <a:t>More shrinking, bigger losses</a:t>
            </a:r>
          </a:p>
        </p:txBody>
      </p:sp>
      <p:pic>
        <p:nvPicPr>
          <p:cNvPr id="10" name="figure" descr="mechanism.png"/>
          <p:cNvPicPr>
            <a:picLocks noChangeAspect="1"/>
          </p:cNvPicPr>
          <p:nvPr/>
        </p:nvPicPr>
        <p:blipFill>
          <a:blip r:embed="rId2"/>
          <a:srcRect l="7" r="7"/>
          <a:stretch>
            <a:fillRect/>
          </a:stretch>
        </p:blipFill>
        <p:spPr>
          <a:xfrm>
            <a:off x="1471452" y="1645920"/>
            <a:ext cx="9248790" cy="4709160"/>
          </a:xfrm>
          <a:prstGeom prst="roundRect">
            <a:avLst>
              <a:gd name="adj" fmla="val 1165"/>
            </a:avLst>
          </a:prstGeom>
        </p:spPr>
      </p:pic>
      <p:sp>
        <p:nvSpPr>
          <p:cNvPr id="11" name="caption"/>
          <p:cNvSpPr txBox="1"/>
          <p:nvPr/>
        </p:nvSpPr>
        <p:spPr>
          <a:xfrm>
            <a:off x="822960" y="6464808"/>
            <a:ext cx="10545775" cy="411480"/>
          </a:xfrm>
          <a:prstGeom prst="rect">
            <a:avLst/>
          </a:prstGeom>
          <a:noFill/>
        </p:spPr>
        <p:txBody>
          <a:bodyPr wrap="square" anchor="t" lIns="0" rIns="0" tIns="0" bIns="0">
            <a:noAutofit/>
          </a:bodyPr>
          <a:lstStyle/>
          <a:p>
            <a:pPr algn="ctr">
              <a:lnSpc>
                <a:spcPct val="100000"/>
              </a:lnSpc>
            </a:pPr>
            <a:r>
              <a:rPr sz="1400" b="0">
                <a:solidFill>
                  <a:srgbClr val="9CC5B0"/>
                </a:solidFill>
                <a:latin typeface="Unbounded"/>
              </a:rPr>
              <a:t>One dot per stock-year (108). Correlation -0.45. Descriptive, not pre-registered.</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53" presetClass="entr" presetSubtype="16" fill="hold" grpId="0" nodeType="withEffect">
                                  <p:stCondLst>
                                    <p:cond delay="607"/>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1000"/>
                                        <p:tgtEl>
                                          <p:spTgt spid="10"/>
                                        </p:tgtEl>
                                      </p:cBhvr>
                                    </p:animEffect>
                                    <p:anim calcmode="lin" valueType="num">
                                      <p:cBhvr additive="base">
                                        <p:cTn id="12" dur="1000" decel="100000" fill="hold"/>
                                        <p:tgtEl>
                                          <p:spTgt spid="10"/>
                                        </p:tgtEl>
                                        <p:attrNameLst>
                                          <p:attrName>ppt_w</p:attrName>
                                        </p:attrNameLst>
                                      </p:cBhvr>
                                      <p:tavLst>
                                        <p:tav tm="0">
                                          <p:val>
                                            <p:strVal val="#ppt_w*0.8"/>
                                          </p:val>
                                        </p:tav>
                                        <p:tav tm="100000">
                                          <p:val>
                                            <p:strVal val="#ppt_w"/>
                                          </p:val>
                                        </p:tav>
                                      </p:tavLst>
                                    </p:anim>
                                    <p:anim calcmode="lin" valueType="num">
                                      <p:cBhvr additive="base">
                                        <p:cTn id="13" dur="1000" decel="100000" fill="hold"/>
                                        <p:tgtEl>
                                          <p:spTgt spid="10"/>
                                        </p:tgtEl>
                                        <p:attrNameLst>
                                          <p:attrName>ppt_h</p:attrName>
                                        </p:attrNameLst>
                                      </p:cBhvr>
                                      <p:tavLst>
                                        <p:tav tm="0">
                                          <p:val>
                                            <p:strVal val="#ppt_h*0.8"/>
                                          </p:val>
                                        </p:tav>
                                        <p:tav tm="100000">
                                          <p:val>
                                            <p:strVal val="#ppt_h"/>
                                          </p:val>
                                        </p:tav>
                                      </p:tavLst>
                                    </p:anim>
                                  </p:childTnLst>
                                </p:cTn>
                              </p:par>
                              <p:par>
                                <p:cTn id="14" presetID="10" presetClass="entr" presetSubtype="0" fill="hold" grpId="0" nodeType="withEffect">
                                  <p:stCondLst>
                                    <p:cond delay="1215"/>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750"/>
                                        <p:tgtEl>
                                          <p:spTgt spid="11"/>
                                        </p:tgtEl>
                                      </p:cBhvr>
                                    </p:animEffect>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1"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20940000">
            <a:off x="-4892040" y="82296"/>
            <a:ext cx="13898880" cy="4864608"/>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20940000">
            <a:off x="7315200" y="46634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20400000">
            <a:off x="822960" y="1143000"/>
            <a:ext cx="4572000" cy="45720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4663440" y="123444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6035040" y="3886200"/>
            <a:ext cx="109728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1320860" cy="64008"/>
          </a:xfrm>
          <a:prstGeom prst="rect">
            <a:avLst/>
          </a:prstGeom>
          <a:solidFill>
            <a:srgbClr val="3FB98A">
              <a:alpha val="85000"/>
            </a:srgbClr>
          </a:solidFill>
          <a:ln>
            <a:noFill/>
          </a:ln>
        </p:spPr>
        <p:txBody>
          <a:bodyPr rtlCol="0" anchor="ctr"/>
          <a:lstStyle/>
          <a:p>
            <a:pPr algn="ctr"/>
          </a:p>
        </p:txBody>
      </p:sp>
      <p:sp>
        <p:nvSpPr>
          <p:cNvPr id="9" name="number"/>
          <p:cNvSpPr txBox="1"/>
          <p:nvPr/>
        </p:nvSpPr>
        <p:spPr>
          <a:xfrm>
            <a:off x="822960" y="1143000"/>
            <a:ext cx="4572000" cy="4572000"/>
          </a:xfrm>
          <a:prstGeom prst="rect">
            <a:avLst/>
          </a:prstGeom>
          <a:noFill/>
        </p:spPr>
        <p:txBody>
          <a:bodyPr wrap="square" anchor="ctr" lIns="0" rIns="0" tIns="0" bIns="0">
            <a:noAutofit/>
          </a:bodyPr>
          <a:lstStyle/>
          <a:p>
            <a:pPr algn="ctr">
              <a:lnSpc>
                <a:spcPct val="100000"/>
              </a:lnSpc>
            </a:pPr>
            <a:r>
              <a:rPr sz="15000" b="1">
                <a:solidFill>
                  <a:srgbClr val="B6F36B"/>
                </a:solidFill>
                <a:latin typeface="Unbounded"/>
              </a:rPr>
              <a:t>06</a:t>
            </a:r>
          </a:p>
        </p:txBody>
      </p:sp>
      <p:sp>
        <p:nvSpPr>
          <p:cNvPr id="10" name="title"/>
          <p:cNvSpPr txBox="1"/>
          <p:nvPr/>
        </p:nvSpPr>
        <p:spPr>
          <a:xfrm>
            <a:off x="6035040" y="1188720"/>
            <a:ext cx="5486400" cy="2560320"/>
          </a:xfrm>
          <a:prstGeom prst="rect">
            <a:avLst/>
          </a:prstGeom>
          <a:noFill/>
        </p:spPr>
        <p:txBody>
          <a:bodyPr wrap="square" anchor="b" lIns="0" rIns="0" tIns="0" bIns="0">
            <a:noAutofit/>
          </a:bodyPr>
          <a:lstStyle/>
          <a:p>
            <a:pPr algn="l">
              <a:lnSpc>
                <a:spcPct val="102000"/>
              </a:lnSpc>
            </a:pPr>
            <a:r>
              <a:rPr sz="5000" b="1">
                <a:solidFill>
                  <a:srgbClr val="ECF8EF"/>
                </a:solidFill>
                <a:latin typeface="Unbounded"/>
              </a:rPr>
              <a:t>What it means</a:t>
            </a:r>
          </a:p>
        </p:txBody>
      </p:sp>
      <p:sp>
        <p:nvSpPr>
          <p:cNvPr id="11" name="subtitle"/>
          <p:cNvSpPr txBox="1"/>
          <p:nvPr/>
        </p:nvSpPr>
        <p:spPr>
          <a:xfrm>
            <a:off x="6035040" y="4206240"/>
            <a:ext cx="5394960" cy="1463040"/>
          </a:xfrm>
          <a:prstGeom prst="rect">
            <a:avLst/>
          </a:prstGeom>
          <a:noFill/>
        </p:spPr>
        <p:txBody>
          <a:bodyPr wrap="square" anchor="t" lIns="0" rIns="0" tIns="0" bIns="0">
            <a:noAutofit/>
          </a:bodyPr>
          <a:lstStyle/>
          <a:p>
            <a:pPr algn="l">
              <a:lnSpc>
                <a:spcPct val="125000"/>
              </a:lnSpc>
            </a:pPr>
            <a:r>
              <a:rPr sz="1800" b="0">
                <a:solidFill>
                  <a:srgbClr val="9CC5B0"/>
                </a:solidFill>
                <a:latin typeface="Unbounded"/>
              </a:rPr>
              <a:t>Claims, limits and next steps</a:t>
            </a:r>
          </a:p>
        </p:txBody>
      </p:sp>
      <p:sp>
        <p:nvSpPr>
          <p:cNvPr id="12" name="back">
            <a:hlinkClick action="ppaction://hlinksldjump" r:id="rId3"/>
          </p:cNvPr>
          <p:cNvSpPr txBox="1"/>
          <p:nvPr/>
        </p:nvSpPr>
        <p:spPr>
          <a:xfrm>
            <a:off x="9814255" y="365760"/>
            <a:ext cx="1828800" cy="320040"/>
          </a:xfrm>
          <a:prstGeom prst="rect">
            <a:avLst/>
          </a:prstGeom>
          <a:noFill/>
        </p:spPr>
        <p:txBody>
          <a:bodyPr wrap="square" anchor="t" lIns="0" rIns="0" tIns="0" bIns="0">
            <a:noAutofit/>
          </a:bodyPr>
          <a:lstStyle/>
          <a:p>
            <a:pPr algn="r">
              <a:lnSpc>
                <a:spcPct val="100000"/>
              </a:lnSpc>
            </a:pPr>
            <a:r>
              <a:rPr sz="1100" b="0">
                <a:solidFill>
                  <a:srgbClr val="9CC5B0"/>
                </a:solidFill>
                <a:latin typeface="Unbounded"/>
              </a:rPr>
              <a:t>← What we will cover</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ppt_w</p:attrName>
                                        </p:attrNameLst>
                                      </p:cBhvr>
                                      <p:tavLst>
                                        <p:tav tm="0">
                                          <p:val>
                                            <p:strVal val="#ppt_w*0.8"/>
                                          </p:val>
                                        </p:tav>
                                        <p:tav tm="100000">
                                          <p:val>
                                            <p:strVal val="#ppt_w"/>
                                          </p:val>
                                        </p:tav>
                                      </p:tavLst>
                                    </p:anim>
                                    <p:anim calcmode="lin" valueType="num">
                                      <p:cBhvr additive="base">
                                        <p:cTn id="9" dur="875" decel="100000" fill="hold"/>
                                        <p:tgtEl>
                                          <p:spTgt spid="9"/>
                                        </p:tgtEl>
                                        <p:attrNameLst>
                                          <p:attrName>ppt_h</p:attrName>
                                        </p:attrNameLst>
                                      </p:cBhvr>
                                      <p:tavLst>
                                        <p:tav tm="0">
                                          <p:val>
                                            <p:strVal val="#ppt_h*0.8"/>
                                          </p:val>
                                        </p:tav>
                                        <p:tav tm="100000">
                                          <p:val>
                                            <p:strVal val="#ppt_h"/>
                                          </p:val>
                                        </p:tav>
                                      </p:tavLst>
                                    </p:anim>
                                  </p:childTnLst>
                                </p:cTn>
                              </p:par>
                              <p:par>
                                <p:cTn id="10" presetID="42" presetClass="entr" presetSubtype="0" fill="hold" grpId="0" nodeType="withEffect">
                                  <p:stCondLst>
                                    <p:cond delay="405"/>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62"/>
                                        <p:tgtEl>
                                          <p:spTgt spid="10"/>
                                        </p:tgtEl>
                                      </p:cBhvr>
                                    </p:animEffect>
                                    <p:anim calcmode="lin" valueType="num">
                                      <p:cBhvr additive="base">
                                        <p:cTn id="13" dur="562" decel="100000" fill="hold"/>
                                        <p:tgtEl>
                                          <p:spTgt spid="10"/>
                                        </p:tgtEl>
                                        <p:attrNameLst>
                                          <p:attrName>ppt_y</p:attrName>
                                        </p:attrNameLst>
                                      </p:cBhvr>
                                      <p:tavLst>
                                        <p:tav tm="0">
                                          <p:val>
                                            <p:strVal val="#ppt_y+0.035"/>
                                          </p:val>
                                        </p:tav>
                                        <p:tav tm="100000">
                                          <p:val>
                                            <p:strVal val="#ppt_y"/>
                                          </p:val>
                                        </p:tav>
                                      </p:tavLst>
                                    </p:anim>
                                  </p:childTnLst>
                                </p:cTn>
                              </p:par>
                              <p:par>
                                <p:cTn id="14" presetID="42" presetClass="entr" presetSubtype="0" fill="hold" grpId="0" nodeType="withEffect">
                                  <p:stCondLst>
                                    <p:cond delay="1350"/>
                                  </p:stCondLst>
                                  <p:childTnLst>
                                    <p:set>
                                      <p:cBhvr>
                                        <p:cTn id="15" dur="1" fill="hold">
                                          <p:stCondLst>
                                            <p:cond delay="0"/>
                                          </p:stCondLst>
                                        </p:cTn>
                                        <p:tgtEl>
                                          <p:spTgt spid="11"/>
                                        </p:tgtEl>
                                        <p:attrNameLst>
                                          <p:attrName>style.visibility</p:attrName>
                                        </p:attrNameLst>
                                      </p:cBhvr>
                                      <p:to>
                                        <p:strVal val="visible"/>
                                      </p:to>
                                    </p:set>
                                    <p:animEffect transition="in" filter="fade">
                                      <p:cBhvr>
                                        <p:cTn id="16" dur="875"/>
                                        <p:tgtEl>
                                          <p:spTgt spid="11"/>
                                        </p:tgtEl>
                                      </p:cBhvr>
                                    </p:animEffect>
                                    <p:anim calcmode="lin" valueType="num">
                                      <p:cBhvr additive="base">
                                        <p:cTn id="17" dur="875" decel="100000" fill="hold"/>
                                        <p:tgtEl>
                                          <p:spTgt spid="11"/>
                                        </p:tgtEl>
                                        <p:attrNameLst>
                                          <p:attrName>ppt_y</p:attrName>
                                        </p:attrNameLst>
                                      </p:cBhvr>
                                      <p:tavLst>
                                        <p:tav tm="0">
                                          <p:val>
                                            <p:strVal val="#ppt_y+0.035"/>
                                          </p:val>
                                        </p:tav>
                                        <p:tav tm="100000">
                                          <p:val>
                                            <p:strVal val="#ppt_y"/>
                                          </p:val>
                                        </p:tav>
                                      </p:tavLst>
                                    </p:anim>
                                  </p:childTnLst>
                                </p:cTn>
                              </p:par>
                              <p:par>
                                <p:cTn id="18" presetID="10" presetClass="entr" presetSubtype="0" fill="hold" grpId="0" nodeType="withEffect">
                                  <p:stCondLst>
                                    <p:cond delay="2025"/>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750"/>
                                        <p:tgtEl>
                                          <p:spTgt spid="12"/>
                                        </p:tgtEl>
                                      </p:cBhvr>
                                    </p:animEffect>
                                  </p:childTnLst>
                                </p:cTn>
                              </p:par>
                              <p:par>
                                <p:cTn id="21" presetID="42" presetClass="path" presetSubtype="0" accel="50000" decel="50000" repeatCount="indefinite" autoRev="1" fill="hold" grpId="0" nodeType="withEffect">
                                  <p:stCondLst>
                                    <p:cond delay="200"/>
                                  </p:stCondLst>
                                  <p:childTnLst>
                                    <p:animMotion origin="layout" path="M 0 0 L 0 -0.012 E" pathEditMode="relative" ptsTypes="">
                                      <p:cBhvr>
                                        <p:cTn id="22" dur="2600" fill="hold"/>
                                        <p:tgtEl>
                                          <p:spTgt spid="5"/>
                                        </p:tgtEl>
                                        <p:attrNameLst>
                                          <p:attrName>ppt_x</p:attrName>
                                          <p:attrName>ppt_y</p:attrName>
                                        </p:attrNameLst>
                                      </p:cBhvr>
                                    </p:animMotion>
                                  </p:childTnLst>
                                </p:cTn>
                              </p:par>
                              <p:par>
                                <p:cTn id="23" presetID="8" presetClass="emph" presetSubtype="0" accel="50000" decel="50000" repeatCount="indefinite" autoRev="1" fill="hold" grpId="0" nodeType="withEffect">
                                  <p:stCondLst>
                                    <p:cond delay="0"/>
                                  </p:stCondLst>
                                  <p:childTnLst>
                                    <p:animRot by="300000">
                                      <p:cBhvr>
                                        <p:cTn id="24"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a:off x="1645920" y="-2907792"/>
            <a:ext cx="8778240" cy="3072384"/>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a:off x="1645920" y="5779008"/>
            <a:ext cx="8778240" cy="3072384"/>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6067044" y="1874520"/>
            <a:ext cx="54864" cy="4297680"/>
          </a:xfrm>
          <a:prstGeom prst="rect">
            <a:avLst/>
          </a:prstGeom>
          <a:solidFill>
            <a:srgbClr val="B6F36B">
              <a:alpha val="90000"/>
            </a:srgbClr>
          </a:solidFill>
          <a:ln>
            <a:noFill/>
          </a:ln>
        </p:spPr>
        <p:txBody>
          <a:bodyPr rtlCol="0" anchor="ctr"/>
          <a:lstStyle/>
          <a:p>
            <a:pPr algn="ctr"/>
          </a:p>
        </p:txBody>
      </p:sp>
      <p:sp>
        <p:nvSpPr>
          <p:cNvPr id="4" name="!!ring"/>
          <p:cNvSpPr/>
          <p:nvPr/>
        </p:nvSpPr>
        <p:spPr>
          <a:xfrm rot="15840000">
            <a:off x="5458968" y="3081528"/>
            <a:ext cx="1280160" cy="128016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5696712" y="3538728"/>
            <a:ext cx="804672" cy="36576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822960" y="169164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1756278"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822960" y="502920"/>
            <a:ext cx="10515600" cy="1051560"/>
          </a:xfrm>
          <a:prstGeom prst="rect">
            <a:avLst/>
          </a:prstGeom>
          <a:noFill/>
        </p:spPr>
        <p:txBody>
          <a:bodyPr wrap="square" anchor="b" lIns="0" rIns="0" tIns="0" bIns="0">
            <a:noAutofit/>
          </a:bodyPr>
          <a:lstStyle/>
          <a:p>
            <a:pPr algn="l">
              <a:lnSpc>
                <a:spcPct val="102000"/>
              </a:lnSpc>
            </a:pPr>
            <a:r>
              <a:rPr sz="3600" b="1">
                <a:solidFill>
                  <a:srgbClr val="ECF8EF"/>
                </a:solidFill>
                <a:latin typeface="Unbounded"/>
              </a:rPr>
              <a:t>What we can and cannot claim</a:t>
            </a:r>
          </a:p>
        </p:txBody>
      </p:sp>
      <p:sp>
        <p:nvSpPr>
          <p:cNvPr id="10" name="left"/>
          <p:cNvSpPr/>
          <p:nvPr/>
        </p:nvSpPr>
        <p:spPr>
          <a:xfrm>
            <a:off x="822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B6F36B"/>
                </a:solidFill>
                <a:latin typeface="Unbounded"/>
              </a:rPr>
              <a:t>WE CAN SAY</a:t>
            </a:r>
          </a:p>
          <a:p>
            <a:pPr algn="l">
              <a:lnSpc>
                <a:spcPct val="120000"/>
              </a:lnSpc>
              <a:spcAft>
                <a:spcPts val="1000"/>
              </a:spcAft>
            </a:pPr>
            <a:r>
              <a:rPr sz="1600" b="0">
                <a:solidFill>
                  <a:srgbClr val="ECF8EF"/>
                </a:solidFill>
                <a:latin typeface="Unbounded"/>
              </a:rPr>
              <a:t>—  Learned blends that freely rescale risk fail, through level drift</a:t>
            </a:r>
          </a:p>
          <a:p>
            <a:pPr algn="l">
              <a:lnSpc>
                <a:spcPct val="120000"/>
              </a:lnSpc>
              <a:spcAft>
                <a:spcPts val="1000"/>
              </a:spcAft>
            </a:pPr>
            <a:r>
              <a:rPr sz="1600" b="0">
                <a:solidFill>
                  <a:srgbClr val="ECF8EF"/>
                </a:solidFill>
                <a:latin typeface="Unbounded"/>
              </a:rPr>
              <a:t>—  Level control fixes most of that failure</a:t>
            </a:r>
          </a:p>
          <a:p>
            <a:pPr algn="l">
              <a:lnSpc>
                <a:spcPct val="120000"/>
              </a:lnSpc>
              <a:spcAft>
                <a:spcPts val="1000"/>
              </a:spcAft>
            </a:pPr>
            <a:r>
              <a:rPr sz="1600" b="0">
                <a:solidFill>
                  <a:srgbClr val="ECF8EF"/>
                </a:solidFill>
                <a:latin typeface="Unbounded"/>
              </a:rPr>
              <a:t>—  HAR, equal weights and Taylor's blends tie</a:t>
            </a:r>
          </a:p>
          <a:p>
            <a:pPr algn="l">
              <a:lnSpc>
                <a:spcPct val="120000"/>
              </a:lnSpc>
              <a:spcAft>
                <a:spcPts val="1000"/>
              </a:spcAft>
            </a:pPr>
            <a:r>
              <a:rPr sz="1600" b="0">
                <a:solidFill>
                  <a:srgbClr val="ECF8EF"/>
                </a:solidFill>
                <a:latin typeface="Unbounded"/>
              </a:rPr>
              <a:t>—  More stocks would not separate the ties</a:t>
            </a:r>
          </a:p>
          <a:p>
            <a:pPr algn="l">
              <a:lnSpc>
                <a:spcPct val="120000"/>
              </a:lnSpc>
              <a:spcAft>
                <a:spcPts val="1000"/>
              </a:spcAft>
            </a:pPr>
            <a:r>
              <a:rPr sz="1600" b="0">
                <a:solidFill>
                  <a:srgbClr val="ECF8EF"/>
                </a:solidFill>
                <a:latin typeface="Unbounded"/>
              </a:rPr>
              <a:t>—  Single GARCH-type models are worse than all of these</a:t>
            </a:r>
          </a:p>
        </p:txBody>
      </p:sp>
      <p:sp>
        <p:nvSpPr>
          <p:cNvPr id="11" name="right"/>
          <p:cNvSpPr/>
          <p:nvPr/>
        </p:nvSpPr>
        <p:spPr>
          <a:xfrm>
            <a:off x="6537960" y="1965960"/>
            <a:ext cx="4846320" cy="4114800"/>
          </a:xfrm>
          <a:prstGeom prst="roundRect">
            <a:avLst>
              <a:gd name="adj" fmla="val 5555"/>
            </a:avLst>
          </a:prstGeom>
          <a:solidFill>
            <a:srgbClr val="15372E"/>
          </a:solidFill>
          <a:ln>
            <a:noFill/>
          </a:ln>
        </p:spPr>
        <p:txBody>
          <a:bodyPr rtlCol="0" anchor="t" wrap="square" lIns="365760" rIns="365760" tIns="365760" bIns="365760">
            <a:noAutofit/>
          </a:bodyPr>
          <a:lstStyle/>
          <a:p>
            <a:pPr algn="l">
              <a:lnSpc>
                <a:spcPct val="100000"/>
              </a:lnSpc>
              <a:spcAft>
                <a:spcPts val="1600"/>
              </a:spcAft>
            </a:pPr>
            <a:r>
              <a:rPr sz="1400" b="1" spc="300">
                <a:solidFill>
                  <a:srgbClr val="3FB98A"/>
                </a:solidFill>
                <a:latin typeface="Unbounded"/>
              </a:rPr>
              <a:t>WE CANNOT SAY</a:t>
            </a:r>
          </a:p>
          <a:p>
            <a:pPr algn="l">
              <a:lnSpc>
                <a:spcPct val="120000"/>
              </a:lnSpc>
              <a:spcAft>
                <a:spcPts val="1000"/>
              </a:spcAft>
            </a:pPr>
            <a:r>
              <a:rPr sz="1700" b="0">
                <a:solidFill>
                  <a:srgbClr val="ECF8EF"/>
                </a:solidFill>
                <a:latin typeface="Unbounded"/>
              </a:rPr>
              <a:t>—  That our new methods R1 or R2 beat HAR</a:t>
            </a:r>
          </a:p>
          <a:p>
            <a:pPr algn="l">
              <a:lnSpc>
                <a:spcPct val="120000"/>
              </a:lnSpc>
              <a:spcAft>
                <a:spcPts val="1000"/>
              </a:spcAft>
            </a:pPr>
            <a:r>
              <a:rPr sz="1700" b="0">
                <a:solidFill>
                  <a:srgbClr val="ECF8EF"/>
                </a:solidFill>
                <a:latin typeface="Unbounded"/>
              </a:rPr>
              <a:t>—  That HAR beats simple combinations</a:t>
            </a:r>
          </a:p>
          <a:p>
            <a:pPr algn="l">
              <a:lnSpc>
                <a:spcPct val="120000"/>
              </a:lnSpc>
              <a:spcAft>
                <a:spcPts val="1000"/>
              </a:spcAft>
            </a:pPr>
            <a:r>
              <a:rPr sz="1700" b="0">
                <a:solidFill>
                  <a:srgbClr val="ECF8EF"/>
                </a:solidFill>
                <a:latin typeface="Unbounded"/>
              </a:rPr>
              <a:t>—  Anything about other markets or intraday data</a:t>
            </a:r>
          </a:p>
          <a:p>
            <a:pPr algn="l">
              <a:lnSpc>
                <a:spcPct val="120000"/>
              </a:lnSpc>
              <a:spcAft>
                <a:spcPts val="1000"/>
              </a:spcAft>
            </a:pPr>
            <a:r>
              <a:rPr sz="1700" b="0">
                <a:solidFill>
                  <a:srgbClr val="ECF8EF"/>
                </a:solidFill>
                <a:latin typeface="Unbounded"/>
              </a:rPr>
              <a:t>—  That every neural design fails the same way</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875"/>
                                        <p:tgtEl>
                                          <p:spTgt spid="9"/>
                                        </p:tgtEl>
                                      </p:cBhvr>
                                    </p:animEffect>
                                    <p:anim calcmode="lin" valueType="num">
                                      <p:cBhvr additive="base">
                                        <p:cTn id="8" dur="875"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67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entr" presetSubtype="0" fill="hold" grpId="0" nodeType="withEffect">
                                  <p:stCondLst>
                                    <p:cond delay="1080"/>
                                  </p:stCondLst>
                                  <p:childTnLst>
                                    <p:set>
                                      <p:cBhvr>
                                        <p:cTn id="14" dur="1" fill="hold">
                                          <p:stCondLst>
                                            <p:cond delay="0"/>
                                          </p:stCondLst>
                                        </p:cTn>
                                        <p:tgtEl>
                                          <p:spTgt spid="11"/>
                                        </p:tgtEl>
                                        <p:attrNameLst>
                                          <p:attrName>style.visibility</p:attrName>
                                        </p:attrNameLst>
                                      </p:cBhvr>
                                      <p:to>
                                        <p:strVal val="visible"/>
                                      </p:to>
                                    </p:set>
                                    <p:animEffect transition="in" filter="fade">
                                      <p:cBhvr>
                                        <p:cTn id="15" dur="875"/>
                                        <p:tgtEl>
                                          <p:spTgt spid="11"/>
                                        </p:tgtEl>
                                      </p:cBhvr>
                                    </p:animEffect>
                                    <p:anim calcmode="lin" valueType="num">
                                      <p:cBhvr additive="base">
                                        <p:cTn id="16" dur="875" decel="100000" fill="hold"/>
                                        <p:tgtEl>
                                          <p:spTgt spid="11"/>
                                        </p:tgtEl>
                                        <p:attrNameLst>
                                          <p:attrName>ppt_y</p:attrName>
                                        </p:attrNameLst>
                                      </p:cBhvr>
                                      <p:tavLst>
                                        <p:tav tm="0">
                                          <p:val>
                                            <p:strVal val="#ppt_y+0.035"/>
                                          </p:val>
                                        </p:tav>
                                        <p:tav tm="100000">
                                          <p:val>
                                            <p:strVal val="#ppt_y"/>
                                          </p:val>
                                        </p:tav>
                                      </p:tavLst>
                                    </p:anim>
                                  </p:childTnLst>
                                </p:cTn>
                              </p:par>
                              <p:par>
                                <p:cTn id="17" presetID="42" presetClass="path" presetSubtype="0" accel="50000" decel="50000" repeatCount="indefinite" autoRev="1" fill="hold" grpId="0" nodeType="withEffect">
                                  <p:stCondLst>
                                    <p:cond delay="200"/>
                                  </p:stCondLst>
                                  <p:childTnLst>
                                    <p:animMotion origin="layout" path="M 0 0 L 0 -0.012 E" pathEditMode="relative" ptsTypes="">
                                      <p:cBhvr>
                                        <p:cTn id="18" dur="2600" fill="hold"/>
                                        <p:tgtEl>
                                          <p:spTgt spid="5"/>
                                        </p:tgtEl>
                                        <p:attrNameLst>
                                          <p:attrName>ppt_x</p:attrName>
                                          <p:attrName>ppt_y</p:attrName>
                                        </p:attrNameLst>
                                      </p:cBhvr>
                                    </p:animMotion>
                                  </p:childTnLst>
                                </p:cTn>
                              </p:par>
                              <p:par>
                                <p:cTn id="19" presetID="8" presetClass="emph" presetSubtype="0" accel="50000" decel="50000" repeatCount="indefinite" autoRev="1" fill="hold" grpId="0" nodeType="withEffect">
                                  <p:stCondLst>
                                    <p:cond delay="0"/>
                                  </p:stCondLst>
                                  <p:childTnLst>
                                    <p:animRot by="300000">
                                      <p:cBhvr>
                                        <p:cTn id="20"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C2620"/>
        </a:solidFill>
        <a:effectLst/>
      </p:bgPr>
    </p:bg>
    <p:spTree>
      <p:nvGrpSpPr>
        <p:cNvPr id="1" name=""/>
        <p:cNvGrpSpPr/>
        <p:nvPr/>
      </p:nvGrpSpPr>
      <p:grpSpPr/>
      <p:sp>
        <p:nvSpPr>
          <p:cNvPr id="2" name="!!glow_a"/>
          <p:cNvSpPr/>
          <p:nvPr/>
        </p:nvSpPr>
        <p:spPr>
          <a:xfrm rot="660000">
            <a:off x="-484632" y="594360"/>
            <a:ext cx="13167360" cy="4608576"/>
          </a:xfrm>
          <a:prstGeom prst="ellipse">
            <a:avLst/>
          </a:prstGeom>
          <a:gradFill rotWithShape="1">
            <a:gsLst>
              <a:gs pos="0">
                <a:srgbClr val="B6F36B">
                  <a:alpha val="45000"/>
                </a:srgbClr>
              </a:gs>
              <a:gs pos="45000">
                <a:srgbClr val="B6F36B">
                  <a:alpha val="20250"/>
                </a:srgbClr>
              </a:gs>
              <a:gs pos="100000">
                <a:srgbClr val="B6F36B">
                  <a:alpha val="10"/>
                </a:srgbClr>
              </a:gs>
            </a:gsLst>
            <a:path path="circle">
              <a:fillToRect l="50000" t="50000" r="50000" b="50000"/>
            </a:path>
          </a:gradFill>
        </p:spPr>
        <p:txBody>
          <a:bodyPr rtlCol="0" anchor="ctr"/>
          <a:lstStyle/>
          <a:p>
            <a:pPr algn="ctr"/>
          </a:p>
        </p:txBody>
      </p:sp>
      <p:sp>
        <p:nvSpPr>
          <p:cNvPr id="3" name="!!glow_b"/>
          <p:cNvSpPr/>
          <p:nvPr/>
        </p:nvSpPr>
        <p:spPr>
          <a:xfrm rot="660000">
            <a:off x="-3657600" y="5120640"/>
            <a:ext cx="7315200" cy="2560320"/>
          </a:xfrm>
          <a:prstGeom prst="ellipse">
            <a:avLst/>
          </a:prstGeom>
          <a:gradFill rotWithShape="1">
            <a:gsLst>
              <a:gs pos="0">
                <a:srgbClr val="3FB98A">
                  <a:alpha val="36000"/>
                </a:srgbClr>
              </a:gs>
              <a:gs pos="45000">
                <a:srgbClr val="3FB98A">
                  <a:alpha val="16200"/>
                </a:srgbClr>
              </a:gs>
              <a:gs pos="100000">
                <a:srgbClr val="3FB98A">
                  <a:alpha val="10"/>
                </a:srgbClr>
              </a:gs>
            </a:gsLst>
            <a:path path="circle">
              <a:fillToRect l="50000" t="50000" r="50000" b="50000"/>
            </a:path>
          </a:gradFill>
        </p:spPr>
        <p:txBody>
          <a:bodyPr rtlCol="0" anchor="ctr"/>
          <a:lstStyle/>
          <a:p>
            <a:pPr algn="ctr"/>
          </a:p>
        </p:txBody>
      </p:sp>
      <p:sp>
        <p:nvSpPr>
          <p:cNvPr id="6" name="!!panel"/>
          <p:cNvSpPr/>
          <p:nvPr/>
        </p:nvSpPr>
        <p:spPr>
          <a:xfrm>
            <a:off x="0" y="0"/>
            <a:ext cx="146304" cy="6858000"/>
          </a:xfrm>
          <a:prstGeom prst="rect">
            <a:avLst/>
          </a:prstGeom>
          <a:solidFill>
            <a:srgbClr val="B6F36B">
              <a:alpha val="90000"/>
            </a:srgbClr>
          </a:solidFill>
          <a:ln>
            <a:noFill/>
          </a:ln>
        </p:spPr>
        <p:txBody>
          <a:bodyPr rtlCol="0" anchor="ctr"/>
          <a:lstStyle/>
          <a:p>
            <a:pPr algn="ctr"/>
          </a:p>
        </p:txBody>
      </p:sp>
      <p:sp>
        <p:nvSpPr>
          <p:cNvPr id="4" name="!!ring"/>
          <p:cNvSpPr/>
          <p:nvPr/>
        </p:nvSpPr>
        <p:spPr>
          <a:xfrm rot="13500000">
            <a:off x="2441448" y="-758952"/>
            <a:ext cx="7315200" cy="7315200"/>
          </a:xfrm>
          <a:prstGeom prst="arc">
            <a:avLst>
              <a:gd name="adj1" fmla="val -16000000"/>
              <a:gd name="adj2" fmla="val 6000000"/>
            </a:avLst>
          </a:prstGeom>
          <a:noFill/>
          <a:ln w="38100">
            <a:solidFill>
              <a:srgbClr val="3FB98A">
                <a:alpha val="80000"/>
              </a:srgbClr>
            </a:solidFill>
          </a:ln>
        </p:spPr>
        <p:txBody>
          <a:bodyPr rtlCol="0" anchor="ctr"/>
          <a:lstStyle/>
          <a:p>
            <a:pPr algn="ctr"/>
          </a:p>
        </p:txBody>
      </p:sp>
      <p:sp>
        <p:nvSpPr>
          <p:cNvPr id="5" name="!!disc"/>
          <p:cNvSpPr/>
          <p:nvPr/>
        </p:nvSpPr>
        <p:spPr>
          <a:xfrm>
            <a:off x="10058400" y="5394960"/>
            <a:ext cx="1005840" cy="457200"/>
          </a:xfrm>
          <a:prstGeom prst="roundRect">
            <a:avLst>
              <a:gd name="adj" fmla="val 50000"/>
            </a:avLst>
          </a:prstGeom>
          <a:solidFill>
            <a:srgbClr val="3FB98A"/>
          </a:solidFill>
          <a:ln>
            <a:noFill/>
          </a:ln>
        </p:spPr>
        <p:txBody>
          <a:bodyPr rtlCol="0" anchor="ctr"/>
          <a:lstStyle/>
          <a:p>
            <a:pPr algn="ctr"/>
          </a:p>
        </p:txBody>
      </p:sp>
      <p:sp>
        <p:nvSpPr>
          <p:cNvPr id="7" name="!!bar"/>
          <p:cNvSpPr/>
          <p:nvPr/>
        </p:nvSpPr>
        <p:spPr>
          <a:xfrm>
            <a:off x="5641848" y="3657600"/>
            <a:ext cx="914400" cy="82296"/>
          </a:xfrm>
          <a:prstGeom prst="rect">
            <a:avLst/>
          </a:prstGeom>
          <a:solidFill>
            <a:srgbClr val="B6F36B"/>
          </a:solidFill>
          <a:ln>
            <a:noFill/>
          </a:ln>
        </p:spPr>
        <p:txBody>
          <a:bodyPr rtlCol="0" anchor="ctr"/>
          <a:lstStyle/>
          <a:p>
            <a:pPr algn="ctr"/>
          </a:p>
        </p:txBody>
      </p:sp>
      <p:sp>
        <p:nvSpPr>
          <p:cNvPr id="8" name="!!progress"/>
          <p:cNvSpPr/>
          <p:nvPr/>
        </p:nvSpPr>
        <p:spPr>
          <a:xfrm>
            <a:off x="0" y="6793992"/>
            <a:ext cx="12191695" cy="64008"/>
          </a:xfrm>
          <a:prstGeom prst="rect">
            <a:avLst/>
          </a:prstGeom>
          <a:solidFill>
            <a:srgbClr val="3FB98A">
              <a:alpha val="85000"/>
            </a:srgbClr>
          </a:solidFill>
          <a:ln>
            <a:noFill/>
          </a:ln>
        </p:spPr>
        <p:txBody>
          <a:bodyPr rtlCol="0" anchor="ctr"/>
          <a:lstStyle/>
          <a:p>
            <a:pPr algn="ctr"/>
          </a:p>
        </p:txBody>
      </p:sp>
      <p:sp>
        <p:nvSpPr>
          <p:cNvPr id="9" name="title"/>
          <p:cNvSpPr txBox="1"/>
          <p:nvPr/>
        </p:nvSpPr>
        <p:spPr>
          <a:xfrm>
            <a:off x="2898648" y="1234440"/>
            <a:ext cx="6400800" cy="2240280"/>
          </a:xfrm>
          <a:prstGeom prst="rect">
            <a:avLst/>
          </a:prstGeom>
          <a:noFill/>
        </p:spPr>
        <p:txBody>
          <a:bodyPr wrap="square" anchor="b" lIns="0" rIns="0" tIns="0" bIns="0">
            <a:noAutofit/>
          </a:bodyPr>
          <a:lstStyle/>
          <a:p>
            <a:pPr algn="ctr">
              <a:lnSpc>
                <a:spcPct val="102000"/>
              </a:lnSpc>
            </a:pPr>
            <a:r>
              <a:rPr sz="5100" b="1">
                <a:solidFill>
                  <a:srgbClr val="ECF8EF"/>
                </a:solidFill>
                <a:latin typeface="Unbounded"/>
              </a:rPr>
              <a:t>Let risk models mix, not rescale</a:t>
            </a:r>
          </a:p>
        </p:txBody>
      </p:sp>
      <p:sp>
        <p:nvSpPr>
          <p:cNvPr id="10" name="subtitle"/>
          <p:cNvSpPr txBox="1"/>
          <p:nvPr/>
        </p:nvSpPr>
        <p:spPr>
          <a:xfrm>
            <a:off x="3127248" y="3931920"/>
            <a:ext cx="5943600" cy="914400"/>
          </a:xfrm>
          <a:prstGeom prst="rect">
            <a:avLst/>
          </a:prstGeom>
          <a:noFill/>
        </p:spPr>
        <p:txBody>
          <a:bodyPr wrap="square" anchor="t" lIns="0" rIns="0" tIns="0" bIns="0">
            <a:noAutofit/>
          </a:bodyPr>
          <a:lstStyle/>
          <a:p>
            <a:pPr algn="ctr">
              <a:lnSpc>
                <a:spcPct val="125000"/>
              </a:lnSpc>
            </a:pPr>
            <a:r>
              <a:rPr sz="1400" b="0">
                <a:solidFill>
                  <a:srgbClr val="9CC5B0"/>
                </a:solidFill>
                <a:latin typeface="Unbounded"/>
              </a:rPr>
              <a:t>Code, data and pre-registration: github.com/amateurcoder015/har-anchored-tail-risk</a:t>
            </a:r>
          </a:p>
        </p:txBody>
      </p:sp>
    </p:spTree>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1819">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135"/>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62"/>
                                        <p:tgtEl>
                                          <p:spTgt spid="9"/>
                                        </p:tgtEl>
                                      </p:cBhvr>
                                    </p:animEffect>
                                    <p:anim calcmode="lin" valueType="num">
                                      <p:cBhvr additive="base">
                                        <p:cTn id="8" dur="562" decel="100000" fill="hold"/>
                                        <p:tgtEl>
                                          <p:spTgt spid="9"/>
                                        </p:tgtEl>
                                        <p:attrNameLst>
                                          <p:attrName>ppt_y</p:attrName>
                                        </p:attrNameLst>
                                      </p:cBhvr>
                                      <p:tavLst>
                                        <p:tav tm="0">
                                          <p:val>
                                            <p:strVal val="#ppt_y+0.035"/>
                                          </p:val>
                                        </p:tav>
                                        <p:tav tm="100000">
                                          <p:val>
                                            <p:strVal val="#ppt_y"/>
                                          </p:val>
                                        </p:tav>
                                      </p:tavLst>
                                    </p:anim>
                                  </p:childTnLst>
                                </p:cTn>
                              </p:par>
                              <p:par>
                                <p:cTn id="9" presetID="42" presetClass="entr" presetSubtype="0" fill="hold" grpId="0" nodeType="withEffect">
                                  <p:stCondLst>
                                    <p:cond delay="1215"/>
                                  </p:stCondLst>
                                  <p:childTnLst>
                                    <p:set>
                                      <p:cBhvr>
                                        <p:cTn id="10" dur="1" fill="hold">
                                          <p:stCondLst>
                                            <p:cond delay="0"/>
                                          </p:stCondLst>
                                        </p:cTn>
                                        <p:tgtEl>
                                          <p:spTgt spid="10"/>
                                        </p:tgtEl>
                                        <p:attrNameLst>
                                          <p:attrName>style.visibility</p:attrName>
                                        </p:attrNameLst>
                                      </p:cBhvr>
                                      <p:to>
                                        <p:strVal val="visible"/>
                                      </p:to>
                                    </p:set>
                                    <p:animEffect transition="in" filter="fade">
                                      <p:cBhvr>
                                        <p:cTn id="11" dur="875"/>
                                        <p:tgtEl>
                                          <p:spTgt spid="10"/>
                                        </p:tgtEl>
                                      </p:cBhvr>
                                    </p:animEffect>
                                    <p:anim calcmode="lin" valueType="num">
                                      <p:cBhvr additive="base">
                                        <p:cTn id="12" dur="875" decel="100000" fill="hold"/>
                                        <p:tgtEl>
                                          <p:spTgt spid="10"/>
                                        </p:tgtEl>
                                        <p:attrNameLst>
                                          <p:attrName>ppt_y</p:attrName>
                                        </p:attrNameLst>
                                      </p:cBhvr>
                                      <p:tavLst>
                                        <p:tav tm="0">
                                          <p:val>
                                            <p:strVal val="#ppt_y+0.035"/>
                                          </p:val>
                                        </p:tav>
                                        <p:tav tm="100000">
                                          <p:val>
                                            <p:strVal val="#ppt_y"/>
                                          </p:val>
                                        </p:tav>
                                      </p:tavLst>
                                    </p:anim>
                                  </p:childTnLst>
                                </p:cTn>
                              </p:par>
                              <p:par>
                                <p:cTn id="13" presetID="42" presetClass="path" presetSubtype="0" accel="50000" decel="50000" repeatCount="indefinite" autoRev="1" fill="hold" grpId="0" nodeType="withEffect">
                                  <p:stCondLst>
                                    <p:cond delay="200"/>
                                  </p:stCondLst>
                                  <p:childTnLst>
                                    <p:animMotion origin="layout" path="M 0 0 L 0 -0.012 E" pathEditMode="relative" ptsTypes="">
                                      <p:cBhvr>
                                        <p:cTn id="14" dur="2600" fill="hold"/>
                                        <p:tgtEl>
                                          <p:spTgt spid="5"/>
                                        </p:tgtEl>
                                        <p:attrNameLst>
                                          <p:attrName>ppt_x</p:attrName>
                                          <p:attrName>ppt_y</p:attrName>
                                        </p:attrNameLst>
                                      </p:cBhvr>
                                    </p:animMotion>
                                  </p:childTnLst>
                                </p:cTn>
                              </p:par>
                              <p:par>
                                <p:cTn id="15" presetID="8" presetClass="emph" presetSubtype="0" accel="50000" decel="50000" repeatCount="indefinite" autoRev="1" fill="hold" grpId="0" nodeType="withEffect">
                                  <p:stCondLst>
                                    <p:cond delay="0"/>
                                  </p:stCondLst>
                                  <p:childTnLst>
                                    <p:animRot by="300000">
                                      <p:cBhvr>
                                        <p:cTn id="16" dur="6000" fill="hold"/>
                                        <p:tgtEl>
                                          <p:spTgt spid="4"/>
                                        </p:tgtEl>
                                        <p:attrNameLst>
                                          <p:attrName>r</p:attrName>
                                        </p:attrNameLst>
                                      </p:cBhvr>
                                    </p:animRo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Why Adaptive Combinations of Tail-Risk Forecasts Fail</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